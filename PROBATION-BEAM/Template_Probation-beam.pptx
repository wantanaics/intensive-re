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6" r:id="rId7"/>
    <p:sldId id="262" r:id="rId8"/>
    <p:sldId id="263" r:id="rId9"/>
    <p:sldId id="264" r:id="rId10"/>
    <p:sldId id="265" r:id="rId11"/>
    <p:sldId id="267" r:id="rId12"/>
    <p:sldId id="258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  <a:srgbClr val="605A52"/>
    <a:srgbClr val="F0425F"/>
    <a:srgbClr val="009238"/>
    <a:srgbClr val="00AC42"/>
    <a:srgbClr val="9C1529"/>
    <a:srgbClr val="800517"/>
    <a:srgbClr val="FE0000"/>
    <a:srgbClr val="00B05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582" y="-4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12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5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6395" b="6395"/>
          <a:stretch/>
        </p:blipFill>
        <p:spPr>
          <a:xfrm>
            <a:off x="5212080" y="0"/>
            <a:ext cx="3931920" cy="5143500"/>
          </a:xfrm>
          <a:prstGeom prst="rect">
            <a:avLst/>
          </a:prstGeom>
        </p:spPr>
      </p:pic>
      <p:sp>
        <p:nvSpPr>
          <p:cNvPr id="3" name="Climb marker"/>
          <p:cNvSpPr/>
          <p:nvPr/>
        </p:nvSpPr>
        <p:spPr>
          <a:xfrm>
            <a:off x="5694883" y="4003243"/>
            <a:ext cx="164592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51560"/>
            <a:ext cx="5486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207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517904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 Days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Report</a:t>
            </a:r>
            <a:endParaRPr lang="en-US" sz="4000" dirty="0"/>
          </a:p>
        </p:txBody>
      </p:sp>
      <p:sp>
        <p:nvSpPr>
          <p:cNvPr id="7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108960"/>
            <a:ext cx="292608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Mr.</a:t>
            </a:r>
            <a:r>
              <a:rPr lang="th-TH" sz="130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r>
              <a:rPr lang="en-US" sz="130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Wantanai Kingsai [Beam]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Div : [CMD]    Dept : [ICS]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Position : [Programmer (AP)]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Start Job : [</a:t>
            </a:r>
            <a:r>
              <a:rPr lang="th-TH" sz="10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r>
              <a:rPr lang="en-US" sz="10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-Aug-2026]   (2 months 6 days)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 0.0000 L 0.0684 0.0000 L 0.0684 -0.2013 L 0.1402 -0.2013 L 0.1402 -0.3904 L 0.2120 -0.3904 L 0.2120 -0.5556 L 0.2770 -0.5556 L 0.2770 -0.7102 E" pathEditMode="relative" rAng="0" ptsTypes="AAAAAAAAA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50" y="-355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CONTENTS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Conclusion first, then the detail behind it — 15 minutes.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300" dirty="0"/>
          </a:p>
        </p:txBody>
      </p:sp>
      <p:pic>
        <p:nvPicPr>
          <p:cNvPr id="10" name="Image 0" descr="Conclusi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6479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12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44168" y="1938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I stand after 60 days</a:t>
            </a:r>
            <a:endParaRPr lang="en-US" sz="950" dirty="0"/>
          </a:p>
        </p:txBody>
      </p:sp>
      <p:sp>
        <p:nvSpPr>
          <p:cNvPr id="13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17739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300" dirty="0"/>
          </a:p>
        </p:txBody>
      </p:sp>
      <p:pic>
        <p:nvPicPr>
          <p:cNvPr id="15" name="Image 1" descr="Training Progressiv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764792"/>
            <a:ext cx="310896" cy="310896"/>
          </a:xfrm>
          <a:prstGeom prst="rect">
            <a:avLst/>
          </a:prstGeom>
        </p:spPr>
      </p:pic>
      <p:sp>
        <p:nvSpPr>
          <p:cNvPr id="16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04688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 Progressive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504688" y="1938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OJT completion status</a:t>
            </a:r>
            <a:endParaRPr lang="en-US" sz="950" dirty="0"/>
          </a:p>
        </p:txBody>
      </p:sp>
      <p:sp>
        <p:nvSpPr>
          <p:cNvPr id="18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231136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02920" y="23774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300" dirty="0"/>
          </a:p>
        </p:txBody>
      </p:sp>
      <p:pic>
        <p:nvPicPr>
          <p:cNvPr id="20" name="Image 2" descr="Job Assignmen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36829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44168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Job Assignment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344168" y="2542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 and IT work, with skill level</a:t>
            </a:r>
            <a:endParaRPr lang="en-US" sz="950" dirty="0"/>
          </a:p>
        </p:txBody>
      </p:sp>
      <p:sp>
        <p:nvSpPr>
          <p:cNvPr id="23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34640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663440" y="23774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300" dirty="0"/>
          </a:p>
        </p:txBody>
      </p:sp>
      <p:pic>
        <p:nvPicPr>
          <p:cNvPr id="25" name="Image 3" descr="Goa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368296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04688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Goal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504688" y="2542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 role and multi-skill</a:t>
            </a:r>
            <a:endParaRPr lang="en-US" sz="950" dirty="0"/>
          </a:p>
        </p:txBody>
      </p:sp>
      <p:sp>
        <p:nvSpPr>
          <p:cNvPr id="28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834640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29809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1300" dirty="0"/>
          </a:p>
        </p:txBody>
      </p:sp>
      <p:pic>
        <p:nvPicPr>
          <p:cNvPr id="30" name="Image 4" descr="Target and Actual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297180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44168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 and Actual</a:t>
            </a:r>
            <a:endParaRPr lang="en-US" sz="1250" dirty="0"/>
          </a:p>
        </p:txBody>
      </p:sp>
      <p:sp>
        <p:nvSpPr>
          <p:cNvPr id="32" name="Text 2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44168" y="3145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Plan vs. result by system</a:t>
            </a:r>
            <a:endParaRPr lang="en-US" sz="950" dirty="0"/>
          </a:p>
        </p:txBody>
      </p:sp>
      <p:sp>
        <p:nvSpPr>
          <p:cNvPr id="33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38144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4663440" y="29809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1300" dirty="0"/>
          </a:p>
        </p:txBody>
      </p:sp>
      <p:pic>
        <p:nvPicPr>
          <p:cNvPr id="35" name="Image 5" descr="Problem &amp; Solutio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2971800"/>
            <a:ext cx="310896" cy="310896"/>
          </a:xfrm>
          <a:prstGeom prst="rect">
            <a:avLst/>
          </a:prstGeom>
        </p:spPr>
      </p:pic>
      <p:sp>
        <p:nvSpPr>
          <p:cNvPr id="36" name="Text 2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04688" y="2907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Problem &amp; Solution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504688" y="31455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Fact, cause and countermeasure</a:t>
            </a:r>
            <a:endParaRPr lang="en-US" sz="950" dirty="0"/>
          </a:p>
        </p:txBody>
      </p:sp>
      <p:sp>
        <p:nvSpPr>
          <p:cNvPr id="38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438144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35844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1300" dirty="0"/>
          </a:p>
        </p:txBody>
      </p:sp>
      <p:pic>
        <p:nvPicPr>
          <p:cNvPr id="40" name="Image 6" descr="Next Plan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968" y="3575304"/>
            <a:ext cx="310896" cy="31089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344168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 Plan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1344168" y="3749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next 30 / 60 / 90 days</a:t>
            </a:r>
            <a:endParaRPr lang="en-US" sz="950" dirty="0"/>
          </a:p>
        </p:txBody>
      </p:sp>
      <p:sp>
        <p:nvSpPr>
          <p:cNvPr id="43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41648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/>
          <p:nvPr/>
        </p:nvSpPr>
        <p:spPr>
          <a:xfrm>
            <a:off x="4663440" y="35844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</a:t>
            </a:r>
            <a:endParaRPr lang="en-US" sz="1300" dirty="0"/>
          </a:p>
        </p:txBody>
      </p:sp>
      <p:pic>
        <p:nvPicPr>
          <p:cNvPr id="45" name="Image 7" descr="Work Evidenc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3575304"/>
            <a:ext cx="310896" cy="31089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504688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 Evidence</a:t>
            </a:r>
            <a:endParaRPr lang="en-US" sz="1250" dirty="0"/>
          </a:p>
        </p:txBody>
      </p:sp>
      <p:sp>
        <p:nvSpPr>
          <p:cNvPr id="47" name="Text 3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504688" y="3749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Screenshots of my actual work</a:t>
            </a:r>
            <a:endParaRPr lang="en-US" sz="950" dirty="0"/>
          </a:p>
        </p:txBody>
      </p:sp>
      <p:sp>
        <p:nvSpPr>
          <p:cNvPr id="48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4041648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/>
          <p:cNvSpPr/>
          <p:nvPr/>
        </p:nvSpPr>
        <p:spPr>
          <a:xfrm>
            <a:off x="502920" y="41879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</a:t>
            </a:r>
            <a:endParaRPr lang="en-US" sz="1300" dirty="0"/>
          </a:p>
        </p:txBody>
      </p:sp>
      <p:pic>
        <p:nvPicPr>
          <p:cNvPr id="50" name="Image 8" descr="Q &amp; A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" y="4178808"/>
            <a:ext cx="310896" cy="31089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344168" y="4114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&amp; A</a:t>
            </a:r>
            <a:endParaRPr lang="en-US" sz="1250" dirty="0"/>
          </a:p>
        </p:txBody>
      </p:sp>
      <p:sp>
        <p:nvSpPr>
          <p:cNvPr id="52" name="Row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45152"/>
            <a:ext cx="3611880" cy="7315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3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55" name="Text 44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Training Progressive</a:t>
            </a:r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C23E85-153D-27E4-CB79-E93C8E51D8D4}"/>
              </a:ext>
            </a:extLst>
          </p:cNvPr>
          <p:cNvGrpSpPr/>
          <p:nvPr/>
        </p:nvGrpSpPr>
        <p:grpSpPr>
          <a:xfrm>
            <a:off x="502920" y="1143738"/>
            <a:ext cx="1965960" cy="790262"/>
            <a:chOff x="502920" y="1660000"/>
            <a:chExt cx="1965960" cy="520000"/>
          </a:xfrm>
        </p:grpSpPr>
        <p:sp>
          <p:nvSpPr>
            <p:cNvPr id="101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1660000"/>
              <a:ext cx="1965960" cy="5200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1660000"/>
              <a:ext cx="1965960" cy="45720"/>
            </a:xfrm>
            <a:prstGeom prst="rect">
              <a:avLst/>
            </a:prstGeom>
            <a:solidFill>
              <a:srgbClr val="F0425F"/>
            </a:solidFill>
            <a:ln>
              <a:noFill/>
            </a:ln>
          </p:spPr>
          <p:txBody>
            <a:bodyPr/>
            <a:lstStyle/>
            <a:p>
              <a:endParaRPr lang="en-US">
                <a:solidFill>
                  <a:srgbClr val="C8102E"/>
                </a:solidFill>
              </a:endParaRPr>
            </a:p>
          </p:txBody>
        </p:sp>
        <p:sp>
          <p:nvSpPr>
            <p:cNvPr id="103" name="T"/>
            <p:cNvSpPr/>
            <p:nvPr/>
          </p:nvSpPr>
          <p:spPr>
            <a:xfrm>
              <a:off x="640080" y="1745000"/>
              <a:ext cx="169164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53</a:t>
              </a:r>
              <a:endParaRPr lang="en-US" sz="2000" dirty="0"/>
            </a:p>
          </p:txBody>
        </p:sp>
        <p:sp>
          <p:nvSpPr>
            <p:cNvPr id="104" name="T"/>
            <p:cNvSpPr/>
            <p:nvPr/>
          </p:nvSpPr>
          <p:spPr>
            <a:xfrm>
              <a:off x="640080" y="2010000"/>
              <a:ext cx="1691640" cy="14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C8102E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TOTAL</a:t>
              </a:r>
              <a:endParaRPr lang="en-US" sz="1050" b="1" dirty="0">
                <a:solidFill>
                  <a:srgbClr val="C8102E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3CB122C-EE5B-F90A-C18E-6E53A7A791F4}"/>
              </a:ext>
            </a:extLst>
          </p:cNvPr>
          <p:cNvGrpSpPr/>
          <p:nvPr/>
        </p:nvGrpSpPr>
        <p:grpSpPr>
          <a:xfrm>
            <a:off x="2560320" y="1143730"/>
            <a:ext cx="1965960" cy="778415"/>
            <a:chOff x="2560320" y="1660000"/>
            <a:chExt cx="1965960" cy="520000"/>
          </a:xfrm>
        </p:grpSpPr>
        <p:sp>
          <p:nvSpPr>
            <p:cNvPr id="105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60320" y="1660000"/>
              <a:ext cx="1965960" cy="5200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60320" y="1660000"/>
              <a:ext cx="1965960" cy="4572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/>
            <a:lstStyle/>
            <a:p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07" name="T"/>
            <p:cNvSpPr/>
            <p:nvPr/>
          </p:nvSpPr>
          <p:spPr>
            <a:xfrm>
              <a:off x="2697480" y="1745000"/>
              <a:ext cx="169164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latin typeface="Tahoma" pitchFamily="34" charset="0"/>
                  <a:ea typeface="Tahoma" pitchFamily="34" charset="-122"/>
                  <a:cs typeface="Tahoma" pitchFamily="34" charset="-120"/>
                </a:rPr>
                <a:t>47</a:t>
              </a:r>
              <a:endParaRPr lang="en-US" sz="1800" dirty="0"/>
            </a:p>
          </p:txBody>
        </p:sp>
        <p:sp>
          <p:nvSpPr>
            <p:cNvPr id="108" name="T"/>
            <p:cNvSpPr/>
            <p:nvPr/>
          </p:nvSpPr>
          <p:spPr>
            <a:xfrm>
              <a:off x="2697480" y="2010000"/>
              <a:ext cx="1691640" cy="14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105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C0C703-A5BE-A187-1CEE-4BF08FA3567C}"/>
              </a:ext>
            </a:extLst>
          </p:cNvPr>
          <p:cNvGrpSpPr/>
          <p:nvPr/>
        </p:nvGrpSpPr>
        <p:grpSpPr>
          <a:xfrm>
            <a:off x="4617720" y="1145186"/>
            <a:ext cx="1965960" cy="774675"/>
            <a:chOff x="4617720" y="1660000"/>
            <a:chExt cx="1965960" cy="520000"/>
          </a:xfrm>
        </p:grpSpPr>
        <p:sp>
          <p:nvSpPr>
            <p:cNvPr id="109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17720" y="1660000"/>
              <a:ext cx="1965960" cy="5200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17720" y="1660000"/>
              <a:ext cx="1965960" cy="4572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" name="T"/>
            <p:cNvSpPr/>
            <p:nvPr/>
          </p:nvSpPr>
          <p:spPr>
            <a:xfrm>
              <a:off x="4754880" y="1745000"/>
              <a:ext cx="169164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ln w="0"/>
                  <a:latin typeface="Tahoma" pitchFamily="34" charset="0"/>
                  <a:ea typeface="Tahoma" pitchFamily="34" charset="-122"/>
                  <a:cs typeface="Tahoma" pitchFamily="34" charset="-120"/>
                </a:rPr>
                <a:t>11</a:t>
              </a:r>
              <a:endParaRPr lang="en-US" sz="2000" b="1" dirty="0">
                <a:ln w="0"/>
              </a:endParaRPr>
            </a:p>
          </p:txBody>
        </p:sp>
        <p:sp>
          <p:nvSpPr>
            <p:cNvPr id="112" name="T"/>
            <p:cNvSpPr/>
            <p:nvPr/>
          </p:nvSpPr>
          <p:spPr>
            <a:xfrm>
              <a:off x="4754880" y="2010000"/>
              <a:ext cx="1691640" cy="14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chemeClr val="accent2">
                      <a:lumMod val="75000"/>
                    </a:schemeClr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PROGRESS</a:t>
              </a:r>
              <a:endParaRPr lang="en-US" sz="105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24872CE-5A28-06F3-EBE0-08EF19D0681F}"/>
              </a:ext>
            </a:extLst>
          </p:cNvPr>
          <p:cNvGrpSpPr/>
          <p:nvPr/>
        </p:nvGrpSpPr>
        <p:grpSpPr>
          <a:xfrm>
            <a:off x="6675120" y="1145188"/>
            <a:ext cx="1965960" cy="781720"/>
            <a:chOff x="6675120" y="1660000"/>
            <a:chExt cx="1965960" cy="520000"/>
          </a:xfrm>
        </p:grpSpPr>
        <p:sp>
          <p:nvSpPr>
            <p:cNvPr id="113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75120" y="1660000"/>
              <a:ext cx="1965960" cy="5200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75120" y="1660000"/>
              <a:ext cx="1965960" cy="4572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T"/>
            <p:cNvSpPr/>
            <p:nvPr/>
          </p:nvSpPr>
          <p:spPr>
            <a:xfrm>
              <a:off x="6812280" y="1745000"/>
              <a:ext cx="169164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latin typeface="Tahoma" pitchFamily="34" charset="0"/>
                  <a:ea typeface="Tahoma" pitchFamily="34" charset="-122"/>
                  <a:cs typeface="Tahoma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116" name="T"/>
            <p:cNvSpPr/>
            <p:nvPr/>
          </p:nvSpPr>
          <p:spPr>
            <a:xfrm>
              <a:off x="6812280" y="2010000"/>
              <a:ext cx="1691640" cy="14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0070C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WAITING</a:t>
              </a:r>
              <a:endParaRPr lang="en-US" sz="105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117" name="T"/>
          <p:cNvSpPr/>
          <p:nvPr/>
        </p:nvSpPr>
        <p:spPr>
          <a:xfrm>
            <a:off x="502920" y="2070220"/>
            <a:ext cx="260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OVERALL PROGRESS</a:t>
            </a:r>
            <a:endParaRPr lang="en-US" sz="750" dirty="0"/>
          </a:p>
        </p:txBody>
      </p:sp>
      <p:sp>
        <p:nvSpPr>
          <p:cNvPr id="118" name="T"/>
          <p:cNvSpPr/>
          <p:nvPr/>
        </p:nvSpPr>
        <p:spPr>
          <a:xfrm>
            <a:off x="5841080" y="2070220"/>
            <a:ext cx="280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 of 61 classes completed </a:t>
            </a:r>
            <a:r>
              <a:rPr lang="en-US" sz="750" b="1" dirty="0">
                <a:latin typeface="Tahoma" pitchFamily="34" charset="0"/>
                <a:ea typeface="Tahoma" pitchFamily="34" charset="-122"/>
                <a:cs typeface="Tahoma" pitchFamily="34" charset="-120"/>
              </a:rPr>
              <a:t>(68%)</a:t>
            </a:r>
            <a:endParaRPr lang="en-US" sz="750" b="1" dirty="0"/>
          </a:p>
        </p:txBody>
      </p:sp>
      <p:sp>
        <p:nvSpPr>
          <p:cNvPr id="119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5220"/>
            <a:ext cx="8138160" cy="8229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19" y="2235220"/>
            <a:ext cx="6504305" cy="82296"/>
          </a:xfrm>
          <a:prstGeom prst="rect">
            <a:avLst/>
          </a:prstGeom>
          <a:gradFill flip="none" rotWithShape="1">
            <a:gsLst>
              <a:gs pos="0">
                <a:srgbClr val="009238"/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25FCB1-5E24-AD0A-239E-0BEA69948D8E}"/>
              </a:ext>
            </a:extLst>
          </p:cNvPr>
          <p:cNvGrpSpPr/>
          <p:nvPr/>
        </p:nvGrpSpPr>
        <p:grpSpPr>
          <a:xfrm>
            <a:off x="502920" y="2468476"/>
            <a:ext cx="3950000" cy="1829895"/>
            <a:chOff x="502920" y="2491336"/>
            <a:chExt cx="3950000" cy="1527525"/>
          </a:xfrm>
        </p:grpSpPr>
        <p:sp>
          <p:nvSpPr>
            <p:cNvPr id="121" name="T"/>
            <p:cNvSpPr/>
            <p:nvPr/>
          </p:nvSpPr>
          <p:spPr>
            <a:xfrm>
              <a:off x="572920" y="2491336"/>
              <a:ext cx="30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NO.</a:t>
              </a:r>
              <a:endParaRPr lang="en-US" sz="700"/>
            </a:p>
          </p:txBody>
        </p:sp>
        <p:sp>
          <p:nvSpPr>
            <p:cNvPr id="122" name="T"/>
            <p:cNvSpPr/>
            <p:nvPr/>
          </p:nvSpPr>
          <p:spPr>
            <a:xfrm>
              <a:off x="802920" y="2491336"/>
              <a:ext cx="143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OJT SUBJECT</a:t>
              </a:r>
              <a:endParaRPr lang="en-US" sz="700"/>
            </a:p>
          </p:txBody>
        </p:sp>
        <p:sp>
          <p:nvSpPr>
            <p:cNvPr id="123" name="T"/>
            <p:cNvSpPr/>
            <p:nvPr/>
          </p:nvSpPr>
          <p:spPr>
            <a:xfrm>
              <a:off x="2232920" y="2491336"/>
              <a:ext cx="102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PLAN</a:t>
              </a:r>
              <a:endParaRPr lang="en-US" sz="700" dirty="0"/>
            </a:p>
          </p:txBody>
        </p:sp>
        <p:sp>
          <p:nvSpPr>
            <p:cNvPr id="124" name="T"/>
            <p:cNvSpPr/>
            <p:nvPr/>
          </p:nvSpPr>
          <p:spPr>
            <a:xfrm>
              <a:off x="3252920" y="2491336"/>
              <a:ext cx="42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DONE</a:t>
              </a:r>
              <a:endParaRPr lang="en-US" sz="700"/>
            </a:p>
          </p:txBody>
        </p:sp>
        <p:sp>
          <p:nvSpPr>
            <p:cNvPr id="125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672920" y="2491336"/>
              <a:ext cx="78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STATUS</a:t>
              </a:r>
              <a:endParaRPr lang="en-US" sz="700"/>
            </a:p>
          </p:txBody>
        </p:sp>
        <p:sp>
          <p:nvSpPr>
            <p:cNvPr id="126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2621336"/>
              <a:ext cx="3950000" cy="9525"/>
            </a:xfrm>
            <a:prstGeom prst="rect">
              <a:avLst/>
            </a:prstGeom>
            <a:solidFill>
              <a:srgbClr val="DCD4C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2651336"/>
              <a:ext cx="3950000" cy="1820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T"/>
            <p:cNvSpPr/>
            <p:nvPr/>
          </p:nvSpPr>
          <p:spPr>
            <a:xfrm>
              <a:off x="572920" y="2651336"/>
              <a:ext cx="30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 dirty="0">
                  <a:solidFill>
                    <a:schemeClr val="bg1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9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802920" y="2651336"/>
              <a:ext cx="260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General Information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30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2847336"/>
              <a:ext cx="3950000" cy="182000"/>
            </a:xfrm>
            <a:prstGeom prst="rect">
              <a:avLst/>
            </a:prstGeom>
            <a:solidFill>
              <a:srgbClr val="FBF8F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802920" y="2847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 dirty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Organization</a:t>
              </a:r>
              <a:endParaRPr lang="en-US" sz="800" dirty="0"/>
            </a:p>
          </p:txBody>
        </p:sp>
        <p:sp>
          <p:nvSpPr>
            <p:cNvPr id="132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2232920" y="2847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9/Jun/26</a:t>
              </a:r>
              <a:endParaRPr lang="en-US" sz="700"/>
            </a:p>
          </p:txBody>
        </p:sp>
        <p:sp>
          <p:nvSpPr>
            <p:cNvPr id="133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52920" y="2847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1/1</a:t>
              </a:r>
              <a:endParaRPr lang="en-US" sz="800" dirty="0">
                <a:solidFill>
                  <a:srgbClr val="605A52"/>
                </a:solidFill>
              </a:endParaRPr>
            </a:p>
          </p:txBody>
        </p:sp>
        <p:sp>
          <p:nvSpPr>
            <p:cNvPr id="134" name="T"/>
            <p:cNvSpPr/>
            <p:nvPr/>
          </p:nvSpPr>
          <p:spPr>
            <a:xfrm>
              <a:off x="3672920" y="2847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 dirty="0">
                <a:solidFill>
                  <a:srgbClr val="00B050"/>
                </a:solidFill>
              </a:endParaRPr>
            </a:p>
          </p:txBody>
        </p:sp>
        <p:sp>
          <p:nvSpPr>
            <p:cNvPr id="135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3029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T"/>
            <p:cNvSpPr/>
            <p:nvPr/>
          </p:nvSpPr>
          <p:spPr>
            <a:xfrm>
              <a:off x="802920" y="3043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Policy</a:t>
              </a:r>
              <a:endParaRPr lang="en-US" sz="800"/>
            </a:p>
          </p:txBody>
        </p:sp>
        <p:sp>
          <p:nvSpPr>
            <p:cNvPr id="137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2232920" y="3043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9-10/Jun/26</a:t>
              </a:r>
              <a:endParaRPr lang="en-US" sz="700"/>
            </a:p>
          </p:txBody>
        </p:sp>
        <p:sp>
          <p:nvSpPr>
            <p:cNvPr id="138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52920" y="3043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2/2</a:t>
              </a:r>
              <a:endParaRPr lang="en-US" sz="800" dirty="0">
                <a:solidFill>
                  <a:srgbClr val="605A52"/>
                </a:solidFill>
              </a:endParaRPr>
            </a:p>
          </p:txBody>
        </p:sp>
        <p:sp>
          <p:nvSpPr>
            <p:cNvPr id="139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672920" y="3043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>
                <a:solidFill>
                  <a:srgbClr val="00B050"/>
                </a:solidFill>
              </a:endParaRPr>
            </a:p>
          </p:txBody>
        </p:sp>
        <p:sp>
          <p:nvSpPr>
            <p:cNvPr id="140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3225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3239336"/>
              <a:ext cx="3950000" cy="182000"/>
            </a:xfrm>
            <a:prstGeom prst="rect">
              <a:avLst/>
            </a:prstGeom>
            <a:solidFill>
              <a:srgbClr val="FBF8F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802920" y="3239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ICS Job</a:t>
              </a:r>
              <a:endParaRPr lang="en-US" sz="800"/>
            </a:p>
          </p:txBody>
        </p:sp>
        <p:sp>
          <p:nvSpPr>
            <p:cNvPr id="143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2232920" y="3239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9-11/Jun/26</a:t>
              </a:r>
              <a:endParaRPr lang="en-US" sz="700"/>
            </a:p>
          </p:txBody>
        </p:sp>
        <p:sp>
          <p:nvSpPr>
            <p:cNvPr id="144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52920" y="3239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3/6</a:t>
              </a:r>
              <a:endParaRPr lang="en-US" sz="800"/>
            </a:p>
          </p:txBody>
        </p:sp>
        <p:sp>
          <p:nvSpPr>
            <p:cNvPr id="145" name="T"/>
            <p:cNvSpPr/>
            <p:nvPr/>
          </p:nvSpPr>
          <p:spPr>
            <a:xfrm>
              <a:off x="3672920" y="3239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>
                <a:solidFill>
                  <a:srgbClr val="00B050"/>
                </a:solidFill>
              </a:endParaRPr>
            </a:p>
          </p:txBody>
        </p:sp>
        <p:sp>
          <p:nvSpPr>
            <p:cNvPr id="146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3421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802920" y="3435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Rule &amp; Regulation</a:t>
              </a:r>
              <a:endParaRPr lang="en-US" sz="800"/>
            </a:p>
          </p:txBody>
        </p:sp>
        <p:sp>
          <p:nvSpPr>
            <p:cNvPr id="148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2232920" y="3435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11/Jun/26</a:t>
              </a:r>
              <a:endParaRPr lang="en-US" sz="700"/>
            </a:p>
          </p:txBody>
        </p:sp>
        <p:sp>
          <p:nvSpPr>
            <p:cNvPr id="149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52920" y="3435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2/2</a:t>
              </a:r>
              <a:endParaRPr lang="en-US" sz="800" dirty="0">
                <a:solidFill>
                  <a:srgbClr val="605A52"/>
                </a:solidFill>
              </a:endParaRPr>
            </a:p>
          </p:txBody>
        </p:sp>
        <p:sp>
          <p:nvSpPr>
            <p:cNvPr id="150" name="T"/>
            <p:cNvSpPr/>
            <p:nvPr/>
          </p:nvSpPr>
          <p:spPr>
            <a:xfrm>
              <a:off x="3672920" y="3435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>
                <a:solidFill>
                  <a:srgbClr val="00B050"/>
                </a:solidFill>
              </a:endParaRPr>
            </a:p>
          </p:txBody>
        </p:sp>
        <p:sp>
          <p:nvSpPr>
            <p:cNvPr id="151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3617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3631336"/>
              <a:ext cx="3950000" cy="182000"/>
            </a:xfrm>
            <a:prstGeom prst="rect">
              <a:avLst/>
            </a:prstGeom>
            <a:solidFill>
              <a:srgbClr val="FBF8F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T"/>
            <p:cNvSpPr/>
            <p:nvPr/>
          </p:nvSpPr>
          <p:spPr>
            <a:xfrm>
              <a:off x="802920" y="3631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Overview System</a:t>
              </a:r>
              <a:endParaRPr lang="en-US" sz="800"/>
            </a:p>
          </p:txBody>
        </p:sp>
        <p:sp>
          <p:nvSpPr>
            <p:cNvPr id="154" name="T"/>
            <p:cNvSpPr/>
            <p:nvPr/>
          </p:nvSpPr>
          <p:spPr>
            <a:xfrm>
              <a:off x="2232920" y="3631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12/Jun/26</a:t>
              </a:r>
              <a:endParaRPr lang="en-US" sz="700"/>
            </a:p>
          </p:txBody>
        </p:sp>
        <p:sp>
          <p:nvSpPr>
            <p:cNvPr id="155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52920" y="3631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1/2</a:t>
              </a:r>
              <a:endParaRPr lang="en-US" sz="800"/>
            </a:p>
          </p:txBody>
        </p:sp>
        <p:sp>
          <p:nvSpPr>
            <p:cNvPr id="156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672920" y="3631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>
                <a:solidFill>
                  <a:srgbClr val="00B050"/>
                </a:solidFill>
              </a:endParaRPr>
            </a:p>
          </p:txBody>
        </p:sp>
        <p:sp>
          <p:nvSpPr>
            <p:cNvPr id="157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3813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T"/>
            <p:cNvSpPr/>
            <p:nvPr/>
          </p:nvSpPr>
          <p:spPr>
            <a:xfrm>
              <a:off x="802920" y="3827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CHT/ICS Activity</a:t>
              </a:r>
              <a:endParaRPr lang="en-US" sz="800"/>
            </a:p>
          </p:txBody>
        </p:sp>
        <p:sp>
          <p:nvSpPr>
            <p:cNvPr id="159" name="T"/>
            <p:cNvSpPr/>
            <p:nvPr/>
          </p:nvSpPr>
          <p:spPr>
            <a:xfrm>
              <a:off x="2232920" y="3827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11-18/Jun/26</a:t>
              </a:r>
              <a:endParaRPr lang="en-US" sz="700"/>
            </a:p>
          </p:txBody>
        </p:sp>
        <p:sp>
          <p:nvSpPr>
            <p:cNvPr id="160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52920" y="3827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20/20</a:t>
              </a:r>
              <a:endParaRPr lang="en-US" sz="800" dirty="0">
                <a:solidFill>
                  <a:srgbClr val="605A52"/>
                </a:solidFill>
              </a:endParaRPr>
            </a:p>
          </p:txBody>
        </p:sp>
        <p:sp>
          <p:nvSpPr>
            <p:cNvPr id="161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672920" y="3827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 dirty="0">
                <a:solidFill>
                  <a:srgbClr val="00B050"/>
                </a:solidFill>
              </a:endParaRPr>
            </a:p>
          </p:txBody>
        </p:sp>
        <p:sp>
          <p:nvSpPr>
            <p:cNvPr id="162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02920" y="4009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291EC9-2EBD-4DFE-9F71-D7E30464C4AF}"/>
              </a:ext>
            </a:extLst>
          </p:cNvPr>
          <p:cNvGrpSpPr/>
          <p:nvPr/>
        </p:nvGrpSpPr>
        <p:grpSpPr>
          <a:xfrm>
            <a:off x="4691080" y="2468476"/>
            <a:ext cx="3950000" cy="2055664"/>
            <a:chOff x="4691080" y="2491336"/>
            <a:chExt cx="3950000" cy="1723525"/>
          </a:xfrm>
        </p:grpSpPr>
        <p:sp>
          <p:nvSpPr>
            <p:cNvPr id="163" name="T"/>
            <p:cNvSpPr/>
            <p:nvPr/>
          </p:nvSpPr>
          <p:spPr>
            <a:xfrm>
              <a:off x="4761080" y="2491336"/>
              <a:ext cx="30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NO.</a:t>
              </a:r>
              <a:endParaRPr lang="en-US" sz="700"/>
            </a:p>
          </p:txBody>
        </p:sp>
        <p:sp>
          <p:nvSpPr>
            <p:cNvPr id="164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4991080" y="2491336"/>
              <a:ext cx="143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OJT SUBJECT</a:t>
              </a:r>
              <a:endParaRPr lang="en-US" sz="700"/>
            </a:p>
          </p:txBody>
        </p:sp>
        <p:sp>
          <p:nvSpPr>
            <p:cNvPr id="165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6421080" y="2491336"/>
              <a:ext cx="102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PLAN</a:t>
              </a:r>
              <a:endParaRPr lang="en-US" sz="700"/>
            </a:p>
          </p:txBody>
        </p:sp>
        <p:sp>
          <p:nvSpPr>
            <p:cNvPr id="166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7441080" y="2491336"/>
              <a:ext cx="42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DONE</a:t>
              </a:r>
              <a:endParaRPr lang="en-US" sz="700"/>
            </a:p>
          </p:txBody>
        </p:sp>
        <p:sp>
          <p:nvSpPr>
            <p:cNvPr id="167" name="T"/>
            <p:cNvSpPr/>
            <p:nvPr/>
          </p:nvSpPr>
          <p:spPr>
            <a:xfrm>
              <a:off x="7861080" y="2491336"/>
              <a:ext cx="780000" cy="1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STATUS</a:t>
              </a:r>
              <a:endParaRPr lang="en-US" sz="700"/>
            </a:p>
          </p:txBody>
        </p:sp>
        <p:sp>
          <p:nvSpPr>
            <p:cNvPr id="168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2621336"/>
              <a:ext cx="3950000" cy="9525"/>
            </a:xfrm>
            <a:prstGeom prst="rect">
              <a:avLst/>
            </a:prstGeom>
            <a:solidFill>
              <a:srgbClr val="DCD4C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2651336"/>
              <a:ext cx="3950000" cy="18200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T"/>
            <p:cNvSpPr/>
            <p:nvPr/>
          </p:nvSpPr>
          <p:spPr>
            <a:xfrm>
              <a:off x="4761080" y="2651336"/>
              <a:ext cx="30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 dirty="0">
                  <a:solidFill>
                    <a:schemeClr val="bg1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2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71" name="T"/>
            <p:cNvSpPr/>
            <p:nvPr/>
          </p:nvSpPr>
          <p:spPr>
            <a:xfrm>
              <a:off x="4991080" y="2651336"/>
              <a:ext cx="260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chemeClr val="bg1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System Develop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72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2847336"/>
              <a:ext cx="3950000" cy="182000"/>
            </a:xfrm>
            <a:prstGeom prst="rect">
              <a:avLst/>
            </a:prstGeom>
            <a:solidFill>
              <a:srgbClr val="FBF8F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4991080" y="2847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Flowlites Tool</a:t>
              </a:r>
              <a:endParaRPr lang="en-US" sz="800"/>
            </a:p>
          </p:txBody>
        </p:sp>
        <p:sp>
          <p:nvSpPr>
            <p:cNvPr id="174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6421080" y="2847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9-10/Jun/26</a:t>
              </a:r>
              <a:endParaRPr lang="en-US" sz="700"/>
            </a:p>
          </p:txBody>
        </p:sp>
        <p:sp>
          <p:nvSpPr>
            <p:cNvPr id="175" name="T"/>
            <p:cNvSpPr/>
            <p:nvPr/>
          </p:nvSpPr>
          <p:spPr>
            <a:xfrm>
              <a:off x="7441080" y="2847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1/1</a:t>
              </a:r>
              <a:endParaRPr lang="en-US" sz="800" dirty="0">
                <a:solidFill>
                  <a:srgbClr val="605A52"/>
                </a:solidFill>
              </a:endParaRPr>
            </a:p>
          </p:txBody>
        </p:sp>
        <p:sp>
          <p:nvSpPr>
            <p:cNvPr id="176" name="T"/>
            <p:cNvSpPr/>
            <p:nvPr/>
          </p:nvSpPr>
          <p:spPr>
            <a:xfrm>
              <a:off x="7861080" y="2847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>
                <a:solidFill>
                  <a:srgbClr val="00B050"/>
                </a:solidFill>
              </a:endParaRPr>
            </a:p>
          </p:txBody>
        </p:sp>
        <p:sp>
          <p:nvSpPr>
            <p:cNvPr id="177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3029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4991080" y="3043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 dirty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Power BI Tool</a:t>
              </a:r>
              <a:endParaRPr lang="en-US" sz="800" dirty="0"/>
            </a:p>
          </p:txBody>
        </p:sp>
        <p:sp>
          <p:nvSpPr>
            <p:cNvPr id="179" name="T"/>
            <p:cNvSpPr/>
            <p:nvPr/>
          </p:nvSpPr>
          <p:spPr>
            <a:xfrm>
              <a:off x="6421080" y="3043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13-14/Jun/26</a:t>
              </a:r>
              <a:endParaRPr lang="en-US" sz="700"/>
            </a:p>
          </p:txBody>
        </p:sp>
        <p:sp>
          <p:nvSpPr>
            <p:cNvPr id="180" name="T"/>
            <p:cNvSpPr/>
            <p:nvPr/>
          </p:nvSpPr>
          <p:spPr>
            <a:xfrm>
              <a:off x="7441080" y="3043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1/1</a:t>
              </a:r>
              <a:endParaRPr lang="en-US" sz="800" dirty="0">
                <a:solidFill>
                  <a:srgbClr val="605A52"/>
                </a:solidFill>
              </a:endParaRPr>
            </a:p>
          </p:txBody>
        </p:sp>
        <p:sp>
          <p:nvSpPr>
            <p:cNvPr id="181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7861080" y="3043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 dirty="0">
                <a:solidFill>
                  <a:srgbClr val="00B050"/>
                </a:solidFill>
              </a:endParaRPr>
            </a:p>
          </p:txBody>
        </p:sp>
        <p:sp>
          <p:nvSpPr>
            <p:cNvPr id="182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3225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3239336"/>
              <a:ext cx="3950000" cy="182000"/>
            </a:xfrm>
            <a:prstGeom prst="rect">
              <a:avLst/>
            </a:prstGeom>
            <a:solidFill>
              <a:srgbClr val="FBF8F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T"/>
            <p:cNvSpPr/>
            <p:nvPr/>
          </p:nvSpPr>
          <p:spPr>
            <a:xfrm>
              <a:off x="4991080" y="3239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Development Process</a:t>
              </a:r>
              <a:endParaRPr lang="en-US" sz="800"/>
            </a:p>
          </p:txBody>
        </p:sp>
        <p:sp>
          <p:nvSpPr>
            <p:cNvPr id="185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6421080" y="3239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17/Jun/26</a:t>
              </a:r>
              <a:endParaRPr lang="en-US" sz="700" dirty="0"/>
            </a:p>
          </p:txBody>
        </p:sp>
        <p:sp>
          <p:nvSpPr>
            <p:cNvPr id="186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7441080" y="3239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5/5</a:t>
              </a:r>
              <a:endParaRPr lang="en-US" sz="800" dirty="0">
                <a:solidFill>
                  <a:srgbClr val="605A52"/>
                </a:solidFill>
              </a:endParaRPr>
            </a:p>
          </p:txBody>
        </p:sp>
        <p:sp>
          <p:nvSpPr>
            <p:cNvPr id="187" name="T"/>
            <p:cNvSpPr/>
            <p:nvPr/>
          </p:nvSpPr>
          <p:spPr>
            <a:xfrm>
              <a:off x="7861080" y="3239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00B05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Completed</a:t>
              </a:r>
              <a:endParaRPr lang="en-US" sz="750" dirty="0">
                <a:solidFill>
                  <a:srgbClr val="00B050"/>
                </a:solidFill>
              </a:endParaRPr>
            </a:p>
          </p:txBody>
        </p:sp>
        <p:sp>
          <p:nvSpPr>
            <p:cNvPr id="188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3421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4991080" y="3435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Uipath (RPA) Tool</a:t>
              </a:r>
              <a:endParaRPr lang="en-US" sz="800"/>
            </a:p>
          </p:txBody>
        </p:sp>
        <p:sp>
          <p:nvSpPr>
            <p:cNvPr id="190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6421080" y="3435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13-15/Aug/26</a:t>
              </a:r>
              <a:endParaRPr lang="en-US" sz="700"/>
            </a:p>
          </p:txBody>
        </p:sp>
        <p:sp>
          <p:nvSpPr>
            <p:cNvPr id="191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7441080" y="3435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0/1</a:t>
              </a:r>
              <a:endParaRPr lang="en-US" sz="800"/>
            </a:p>
          </p:txBody>
        </p:sp>
        <p:sp>
          <p:nvSpPr>
            <p:cNvPr id="192" name="T"/>
            <p:cNvSpPr/>
            <p:nvPr/>
          </p:nvSpPr>
          <p:spPr>
            <a:xfrm>
              <a:off x="7861080" y="3435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00B0F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Waiting</a:t>
              </a:r>
              <a:endParaRPr lang="en-US" sz="750" dirty="0">
                <a:solidFill>
                  <a:srgbClr val="00B0F0"/>
                </a:solidFill>
              </a:endParaRPr>
            </a:p>
          </p:txBody>
        </p:sp>
        <p:sp>
          <p:nvSpPr>
            <p:cNvPr id="193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3617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3631336"/>
              <a:ext cx="3950000" cy="182000"/>
            </a:xfrm>
            <a:prstGeom prst="rect">
              <a:avLst/>
            </a:prstGeom>
            <a:solidFill>
              <a:srgbClr val="FBF8F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4991080" y="3631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SQL, PL/SQL Basic</a:t>
              </a:r>
              <a:endParaRPr lang="en-US" sz="800"/>
            </a:p>
          </p:txBody>
        </p:sp>
        <p:sp>
          <p:nvSpPr>
            <p:cNvPr id="196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6421080" y="3631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18/Aug/26</a:t>
              </a:r>
              <a:endParaRPr lang="en-US" sz="700"/>
            </a:p>
          </p:txBody>
        </p:sp>
        <p:sp>
          <p:nvSpPr>
            <p:cNvPr id="197" name="T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7441080" y="3631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0/1</a:t>
              </a:r>
              <a:endParaRPr lang="en-US" sz="800" dirty="0"/>
            </a:p>
          </p:txBody>
        </p:sp>
        <p:sp>
          <p:nvSpPr>
            <p:cNvPr id="198" name="T"/>
            <p:cNvSpPr/>
            <p:nvPr/>
          </p:nvSpPr>
          <p:spPr>
            <a:xfrm>
              <a:off x="7861080" y="3631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1" dirty="0">
                  <a:solidFill>
                    <a:srgbClr val="00B0F0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Waiting</a:t>
              </a:r>
              <a:endParaRPr lang="en-US" sz="750" dirty="0">
                <a:solidFill>
                  <a:srgbClr val="00B0F0"/>
                </a:solidFill>
              </a:endParaRPr>
            </a:p>
          </p:txBody>
        </p:sp>
        <p:sp>
          <p:nvSpPr>
            <p:cNvPr id="199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3813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T"/>
            <p:cNvSpPr/>
            <p:nvPr/>
          </p:nvSpPr>
          <p:spPr>
            <a:xfrm>
              <a:off x="4991080" y="3827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Low Code (Web Performer)</a:t>
              </a:r>
              <a:endParaRPr lang="en-US" sz="800"/>
            </a:p>
          </p:txBody>
        </p:sp>
        <p:sp>
          <p:nvSpPr>
            <p:cNvPr id="201" name="T"/>
            <p:cNvSpPr/>
            <p:nvPr/>
          </p:nvSpPr>
          <p:spPr>
            <a:xfrm>
              <a:off x="6421080" y="3827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15/Jun-15/Sep/26</a:t>
              </a:r>
              <a:endParaRPr lang="en-US" sz="700"/>
            </a:p>
          </p:txBody>
        </p:sp>
        <p:sp>
          <p:nvSpPr>
            <p:cNvPr id="202" name="T"/>
            <p:cNvSpPr/>
            <p:nvPr/>
          </p:nvSpPr>
          <p:spPr>
            <a:xfrm>
              <a:off x="7441080" y="3827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0/1</a:t>
              </a:r>
              <a:endParaRPr lang="en-US" sz="800"/>
            </a:p>
          </p:txBody>
        </p:sp>
        <p:sp>
          <p:nvSpPr>
            <p:cNvPr id="203" name="T"/>
            <p:cNvSpPr/>
            <p:nvPr/>
          </p:nvSpPr>
          <p:spPr>
            <a:xfrm>
              <a:off x="7703127" y="3827336"/>
              <a:ext cx="937953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750" b="1" dirty="0">
                  <a:ln w="0"/>
                  <a:solidFill>
                    <a:schemeClr val="accent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Progress</a:t>
              </a:r>
              <a:r>
                <a:rPr lang="th-TH" sz="750" b="1" dirty="0">
                  <a:ln w="0"/>
                  <a:solidFill>
                    <a:schemeClr val="accent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 20</a:t>
              </a:r>
              <a:r>
                <a:rPr lang="en-US" sz="750" b="1" dirty="0">
                  <a:ln w="0"/>
                  <a:solidFill>
                    <a:schemeClr val="accent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%</a:t>
              </a:r>
              <a:endParaRPr lang="en-US" sz="750" b="1" dirty="0">
                <a:ln w="0"/>
                <a:solidFill>
                  <a:schemeClr val="accent2"/>
                </a:solidFill>
              </a:endParaRPr>
            </a:p>
          </p:txBody>
        </p:sp>
        <p:sp>
          <p:nvSpPr>
            <p:cNvPr id="204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4009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4023336"/>
              <a:ext cx="3950000" cy="182000"/>
            </a:xfrm>
            <a:prstGeom prst="rect">
              <a:avLst/>
            </a:prstGeom>
            <a:solidFill>
              <a:srgbClr val="FBF8F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T"/>
            <p:cNvSpPr/>
            <p:nvPr/>
          </p:nvSpPr>
          <p:spPr>
            <a:xfrm>
              <a:off x="4991080" y="4023336"/>
              <a:ext cx="143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0">
                  <a:solidFill>
                    <a:srgbClr val="1C1A18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- ASP.NET Basic</a:t>
              </a:r>
              <a:endParaRPr lang="en-US" sz="800"/>
            </a:p>
          </p:txBody>
        </p:sp>
        <p:sp>
          <p:nvSpPr>
            <p:cNvPr id="207" name="T"/>
            <p:cNvSpPr/>
            <p:nvPr/>
          </p:nvSpPr>
          <p:spPr>
            <a:xfrm>
              <a:off x="6421080" y="4023336"/>
              <a:ext cx="10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15/Jun-15/Sep/26</a:t>
              </a:r>
              <a:endParaRPr lang="en-US" sz="700"/>
            </a:p>
          </p:txBody>
        </p:sp>
        <p:sp>
          <p:nvSpPr>
            <p:cNvPr id="208" name="T"/>
            <p:cNvSpPr/>
            <p:nvPr/>
          </p:nvSpPr>
          <p:spPr>
            <a:xfrm>
              <a:off x="7441080" y="4023336"/>
              <a:ext cx="42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th-TH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5</a:t>
              </a:r>
              <a:r>
                <a:rPr lang="en-US" sz="800" b="1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/10</a:t>
              </a:r>
              <a:endParaRPr lang="en-US" sz="800" dirty="0"/>
            </a:p>
          </p:txBody>
        </p:sp>
        <p:sp>
          <p:nvSpPr>
            <p:cNvPr id="209" name="T"/>
            <p:cNvSpPr/>
            <p:nvPr/>
          </p:nvSpPr>
          <p:spPr>
            <a:xfrm>
              <a:off x="7861080" y="4023336"/>
              <a:ext cx="780000" cy="18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750" b="1" dirty="0">
                  <a:ln w="0"/>
                  <a:solidFill>
                    <a:schemeClr val="accent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Progress 50%</a:t>
              </a:r>
              <a:endParaRPr lang="en-US" sz="750" b="1" dirty="0">
                <a:ln w="0"/>
                <a:solidFill>
                  <a:schemeClr val="accent2"/>
                </a:solidFill>
              </a:endParaRPr>
            </a:p>
          </p:txBody>
        </p:sp>
        <p:sp>
          <p:nvSpPr>
            <p:cNvPr id="210" name="Box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91080" y="4205336"/>
              <a:ext cx="3950000" cy="9525"/>
            </a:xfrm>
            <a:prstGeom prst="rect">
              <a:avLst/>
            </a:prstGeom>
            <a:solidFill>
              <a:srgbClr val="EDE7DC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 Wantanai Kingsai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850" dirty="0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ABF2CCDF-5001-2CC0-87EA-0D12BB0E1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7223" y="2235220"/>
            <a:ext cx="1225551" cy="822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Box">
            <a:extLst>
              <a:ext uri="{FF2B5EF4-FFF2-40B4-BE49-F238E27FC236}">
                <a16:creationId xmlns:a16="http://schemas.microsoft.com/office/drawing/2014/main" id="{A418F1F2-DA9E-95FB-366C-B1253AEE9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32774" y="2235220"/>
            <a:ext cx="408305" cy="822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Job Assignment (AP)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[0/0] assigned jobs delivered on plan more in progress after day 60.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119713"/>
              </p:ext>
            </p:extLst>
          </p:nvPr>
        </p:nvGraphicFramePr>
        <p:xfrm>
          <a:off x="502920" y="1755648"/>
          <a:ext cx="8138160" cy="2144268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SYSTEM / TOPIC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WHAT I DID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STATUS</a:t>
                      </a: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[DBC Inventory]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100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[HRMS]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100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[Power BI]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100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[Flowlites]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100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[Welfare Fund]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Report and form layout in Oracle Reports (3 pages)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n w="0"/>
                          <a:solidFill>
                            <a:schemeClr val="accent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Progress</a:t>
                      </a:r>
                      <a:r>
                        <a:rPr lang="th-TH" sz="1000" b="1" dirty="0">
                          <a:ln w="0"/>
                          <a:solidFill>
                            <a:schemeClr val="accent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 20</a:t>
                      </a:r>
                      <a:r>
                        <a:rPr lang="en-US" sz="1000" b="1" dirty="0">
                          <a:ln w="0"/>
                          <a:solidFill>
                            <a:schemeClr val="accent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%</a:t>
                      </a:r>
                      <a:endParaRPr lang="en-US" sz="1000" b="1" dirty="0">
                        <a:ln w="0"/>
                        <a:solidFill>
                          <a:schemeClr val="accent2"/>
                        </a:solidFill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[RPA / UiPath]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Email notification robot for approval workflow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n w="0"/>
                          <a:solidFill>
                            <a:schemeClr val="accent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Progress</a:t>
                      </a:r>
                      <a:r>
                        <a:rPr lang="th-TH" sz="1000" b="1" dirty="0">
                          <a:ln w="0"/>
                          <a:solidFill>
                            <a:schemeClr val="accent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 20</a:t>
                      </a:r>
                      <a:r>
                        <a:rPr lang="en-US" sz="1000" b="1" dirty="0">
                          <a:ln w="0"/>
                          <a:solidFill>
                            <a:schemeClr val="accent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%</a:t>
                      </a:r>
                      <a:endParaRPr lang="en-US" sz="1000" b="1" dirty="0">
                        <a:ln w="0"/>
                        <a:solidFill>
                          <a:schemeClr val="accent2"/>
                        </a:solidFill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Job Assignment (IT)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support tasks handled alongside AP work with no escalation to seniors.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479604"/>
              </p:ext>
            </p:extLst>
          </p:nvPr>
        </p:nvGraphicFramePr>
        <p:xfrm>
          <a:off x="502920" y="1755648"/>
          <a:ext cx="5212080" cy="214426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SYSTEM SUPPORT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TOTAL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STATUS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150" dirty="0">
                          <a:solidFill>
                            <a:schemeClr val="bg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LEVEL</a:t>
                      </a:r>
                      <a:endParaRPr lang="en-US" sz="900" dirty="0">
                        <a:solidFill>
                          <a:schemeClr val="bg1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Setting new PC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[3] PC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95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Elementary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Update Windows / patches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[2] PC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95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Elementary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PC network configuration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[1] PC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95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Elementary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Cabling &amp; wiring network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[1] item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950" dirty="0">
                        <a:solidFill>
                          <a:srgbClr val="00B050"/>
                        </a:solidFill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Beginner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Audit / check fixed asset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[1] PC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05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Completed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Beginner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Support users (Excel, Outlook)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Daily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05A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 Process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Elementary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Image 0" descr="Bright minimal office workspace with a clean desk"/>
          <p:cNvPicPr>
            <a:picLocks noChangeAspect="1"/>
          </p:cNvPicPr>
          <p:nvPr/>
        </p:nvPicPr>
        <p:blipFill>
          <a:blip r:embed="rId3"/>
          <a:srcRect t="27988" b="27988"/>
          <a:stretch/>
        </p:blipFill>
        <p:spPr>
          <a:xfrm>
            <a:off x="5943600" y="1755648"/>
            <a:ext cx="2697480" cy="1783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37124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Self-check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943600" y="3931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[One line on how you balanced AP development with IT support requests.]</a:t>
            </a:r>
            <a:endParaRPr lang="en-US" sz="950" dirty="0"/>
          </a:p>
        </p:txBody>
      </p:sp>
      <p:sp>
        <p:nvSpPr>
          <p:cNvPr id="1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15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EVIDENCE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Work Evidence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Actual screens I built and operated during the 60 days.</a:t>
            </a:r>
            <a:endParaRPr lang="en-US" sz="1150" dirty="0"/>
          </a:p>
        </p:txBody>
      </p:sp>
      <p:sp>
        <p:nvSpPr>
          <p:cNvPr id="9" name="Screenshot fram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257860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Screenshot placehol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331720"/>
            <a:ext cx="457200" cy="457200"/>
          </a:xfrm>
          <a:prstGeom prst="rect">
            <a:avLst/>
          </a:prstGeom>
        </p:spPr>
      </p:pic>
      <p:sp>
        <p:nvSpPr>
          <p:cNvPr id="11" name="Text 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28529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Paste screenshot here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37124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[Screen name] — [Flowlites]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39684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it does : [short one line]</a:t>
            </a:r>
            <a:endParaRPr lang="en-US" sz="900" dirty="0"/>
          </a:p>
        </p:txBody>
      </p:sp>
      <p:sp>
        <p:nvSpPr>
          <p:cNvPr id="14" name="Screenshot fram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272" y="1783080"/>
            <a:ext cx="257860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Screenshot placehol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3317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9272" y="28529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Paste screenshot here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19272" y="37124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[Screen name] — [Web Performer]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19272" y="39684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it does : [short one line]</a:t>
            </a:r>
            <a:endParaRPr lang="en-US" sz="900" dirty="0"/>
          </a:p>
        </p:txBody>
      </p:sp>
      <p:sp>
        <p:nvSpPr>
          <p:cNvPr id="19" name="Screenshot fram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1783080"/>
            <a:ext cx="257860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4C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Screenshot placehol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3317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35624" y="28529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Paste screenshot here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135624" y="37124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[Report / Result] — [System]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135624" y="39684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it does : [short one line]</a:t>
            </a:r>
            <a:endParaRPr lang="en-US" sz="900" dirty="0"/>
          </a:p>
        </p:txBody>
      </p:sp>
      <p:sp>
        <p:nvSpPr>
          <p:cNvPr id="2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Goal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Deepen [main system] first, then widen into multi-skill support.</a:t>
            </a:r>
            <a:endParaRPr lang="en-US" sz="11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10512"/>
            <a:ext cx="3886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10512"/>
            <a:ext cx="3886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1993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</a:t>
            </a:r>
            <a:endParaRPr lang="en-US" sz="900" dirty="0"/>
          </a:p>
        </p:txBody>
      </p:sp>
      <p:sp>
        <p:nvSpPr>
          <p:cNvPr id="12" name="Text 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8952" y="22128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Own the core systems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952" y="263347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[HRM] system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[Flowlites] system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[EUC / payment] system</a:t>
            </a:r>
            <a:endParaRPr lang="en-US" sz="11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810512"/>
            <a:ext cx="38862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810512"/>
            <a:ext cx="3886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0912" y="1993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 SKILL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10912" y="22128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Widen the coverage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10912" y="263347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IT infrastructure work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user trouble and requests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Assist [RPA] automation</a:t>
            </a:r>
            <a:endParaRPr lang="en-US" sz="1100" dirty="0"/>
          </a:p>
        </p:txBody>
      </p:sp>
      <p:sp>
        <p:nvSpPr>
          <p:cNvPr id="20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Target and Actual (Y2026)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[1 of 4] areas are on plan. [System Management] is behind and needs [action].</a:t>
            </a:r>
            <a:endParaRPr lang="en-US" sz="1150" dirty="0"/>
          </a:p>
        </p:txBody>
      </p:sp>
      <p:sp>
        <p:nvSpPr>
          <p:cNvPr id="102" name="Gridline 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0000" y="2180000"/>
            <a:ext cx="6350000" cy="9144"/>
          </a:xfrm>
          <a:prstGeom prst="rect">
            <a:avLst/>
          </a:prstGeom>
          <a:solidFill>
            <a:srgbClr val="DED6C8"/>
          </a:solidFill>
          <a:ln w="9144">
            <a:solidFill>
              <a:srgbClr val="DE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2010000" y="2080000"/>
            <a:ext cx="21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</a:t>
            </a:r>
            <a:endParaRPr lang="en-US" sz="750"/>
          </a:p>
        </p:txBody>
      </p:sp>
      <p:sp>
        <p:nvSpPr>
          <p:cNvPr id="105" name="Gridline 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0000" y="2544000"/>
            <a:ext cx="6350000" cy="9144"/>
          </a:xfrm>
          <a:prstGeom prst="rect">
            <a:avLst/>
          </a:prstGeom>
          <a:solidFill>
            <a:srgbClr val="DED6C8"/>
          </a:solidFill>
          <a:ln w="9144">
            <a:solidFill>
              <a:srgbClr val="DE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10000" y="2444000"/>
            <a:ext cx="21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80</a:t>
            </a:r>
            <a:endParaRPr lang="en-US" sz="750"/>
          </a:p>
        </p:txBody>
      </p:sp>
      <p:sp>
        <p:nvSpPr>
          <p:cNvPr id="108" name="Gridline 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0000" y="2908000"/>
            <a:ext cx="6350000" cy="9144"/>
          </a:xfrm>
          <a:prstGeom prst="rect">
            <a:avLst/>
          </a:prstGeom>
          <a:solidFill>
            <a:srgbClr val="DED6C8"/>
          </a:solidFill>
          <a:ln w="9144">
            <a:solidFill>
              <a:srgbClr val="DE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10000" y="2808000"/>
            <a:ext cx="21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</a:t>
            </a:r>
            <a:endParaRPr lang="en-US" sz="750"/>
          </a:p>
        </p:txBody>
      </p:sp>
      <p:sp>
        <p:nvSpPr>
          <p:cNvPr id="111" name="Gridlin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0000" y="3272000"/>
            <a:ext cx="6350000" cy="9144"/>
          </a:xfrm>
          <a:prstGeom prst="rect">
            <a:avLst/>
          </a:prstGeom>
          <a:solidFill>
            <a:srgbClr val="DED6C8"/>
          </a:solidFill>
          <a:ln w="9144">
            <a:solidFill>
              <a:srgbClr val="DE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3"/>
          <p:cNvSpPr/>
          <p:nvPr/>
        </p:nvSpPr>
        <p:spPr>
          <a:xfrm>
            <a:off x="2010000" y="3172000"/>
            <a:ext cx="21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750" dirty="0"/>
          </a:p>
        </p:txBody>
      </p:sp>
      <p:sp>
        <p:nvSpPr>
          <p:cNvPr id="114" name="Gridlin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0000" y="3636000"/>
            <a:ext cx="6350000" cy="9144"/>
          </a:xfrm>
          <a:prstGeom prst="rect">
            <a:avLst/>
          </a:prstGeom>
          <a:solidFill>
            <a:srgbClr val="DED6C8"/>
          </a:solidFill>
          <a:ln w="9144">
            <a:solidFill>
              <a:srgbClr val="DED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10000" y="3536000"/>
            <a:ext cx="21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750"/>
          </a:p>
        </p:txBody>
      </p:sp>
      <p:sp>
        <p:nvSpPr>
          <p:cNvPr id="117" name="Targe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46250" y="2180000"/>
            <a:ext cx="280000" cy="1820000"/>
          </a:xfrm>
          <a:prstGeom prst="rect">
            <a:avLst/>
          </a:prstGeom>
          <a:solidFill>
            <a:srgbClr val="F49CBB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18" name="Text 118"/>
          <p:cNvSpPr/>
          <p:nvPr/>
        </p:nvSpPr>
        <p:spPr>
          <a:xfrm>
            <a:off x="2406250" y="1985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2027</a:t>
            </a:r>
            <a:endParaRPr lang="en-US" sz="750" dirty="0"/>
          </a:p>
        </p:txBody>
      </p:sp>
      <p:sp>
        <p:nvSpPr>
          <p:cNvPr id="119" name="6 months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51250" y="2544000"/>
            <a:ext cx="280000" cy="1456000"/>
          </a:xfrm>
          <a:prstGeom prst="rect">
            <a:avLst/>
          </a:prstGeom>
          <a:solidFill>
            <a:srgbClr val="EA3351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20" name="Text 120"/>
          <p:cNvSpPr/>
          <p:nvPr/>
        </p:nvSpPr>
        <p:spPr>
          <a:xfrm>
            <a:off x="2711250" y="235525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80</a:t>
            </a:r>
            <a:endParaRPr lang="en-US" sz="750" dirty="0"/>
          </a:p>
        </p:txBody>
      </p:sp>
      <p:sp>
        <p:nvSpPr>
          <p:cNvPr id="121" name="12 months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56250" y="2917144"/>
            <a:ext cx="280000" cy="1082856"/>
          </a:xfrm>
          <a:prstGeom prst="rect">
            <a:avLst/>
          </a:prstGeom>
          <a:solidFill>
            <a:srgbClr val="921123"/>
          </a:solidFill>
          <a:ln w="38100">
            <a:solidFill>
              <a:srgbClr val="FFFF00"/>
            </a:solidFill>
            <a:prstDash val="dash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>
              <a:solidFill>
                <a:srgbClr val="C8102E"/>
              </a:solidFill>
            </a:endParaRPr>
          </a:p>
        </p:txBody>
      </p:sp>
      <p:sp>
        <p:nvSpPr>
          <p:cNvPr id="122" name="Text 12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16250" y="27427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</a:t>
            </a:r>
            <a:endParaRPr lang="en-US" sz="750" dirty="0"/>
          </a:p>
        </p:txBody>
      </p:sp>
      <p:sp>
        <p:nvSpPr>
          <p:cNvPr id="123" name="Actual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1250" y="3272000"/>
            <a:ext cx="280000" cy="728000"/>
          </a:xfrm>
          <a:prstGeom prst="rect">
            <a:avLst/>
          </a:prstGeom>
          <a:solidFill>
            <a:schemeClr val="accent4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24" name="Text 124"/>
          <p:cNvSpPr/>
          <p:nvPr/>
        </p:nvSpPr>
        <p:spPr>
          <a:xfrm>
            <a:off x="3321250" y="3077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750"/>
          </a:p>
        </p:txBody>
      </p:sp>
      <p:sp>
        <p:nvSpPr>
          <p:cNvPr id="125" name="Text 12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70000" y="4060000"/>
            <a:ext cx="15475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Management</a:t>
            </a:r>
            <a:endParaRPr lang="en-US" sz="900" dirty="0"/>
          </a:p>
        </p:txBody>
      </p:sp>
      <p:sp>
        <p:nvSpPr>
          <p:cNvPr id="126" name="Text 126"/>
          <p:cNvSpPr/>
          <p:nvPr/>
        </p:nvSpPr>
        <p:spPr>
          <a:xfrm>
            <a:off x="2743519" y="2400572"/>
            <a:ext cx="15475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-20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27" name="Targe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3750" y="2180000"/>
            <a:ext cx="280000" cy="1820000"/>
          </a:xfrm>
          <a:prstGeom prst="rect">
            <a:avLst/>
          </a:prstGeom>
          <a:solidFill>
            <a:srgbClr val="F49CBB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28" name="Text 12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93750" y="1985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</a:t>
            </a:r>
            <a:endParaRPr lang="en-US" sz="750"/>
          </a:p>
        </p:txBody>
      </p:sp>
      <p:sp>
        <p:nvSpPr>
          <p:cNvPr id="129" name="6 months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750" y="2571750"/>
            <a:ext cx="280000" cy="1428250"/>
          </a:xfrm>
          <a:prstGeom prst="rect">
            <a:avLst/>
          </a:prstGeom>
          <a:solidFill>
            <a:srgbClr val="EA3351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30" name="Text 130"/>
          <p:cNvSpPr/>
          <p:nvPr/>
        </p:nvSpPr>
        <p:spPr>
          <a:xfrm>
            <a:off x="4298750" y="23891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80</a:t>
            </a:r>
            <a:endParaRPr lang="en-US" sz="750" dirty="0"/>
          </a:p>
        </p:txBody>
      </p:sp>
      <p:sp>
        <p:nvSpPr>
          <p:cNvPr id="131" name="12 months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3750" y="3008000"/>
            <a:ext cx="280000" cy="992000"/>
          </a:xfrm>
          <a:prstGeom prst="rect">
            <a:avLst/>
          </a:prstGeom>
          <a:solidFill>
            <a:srgbClr val="921123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>
              <a:solidFill>
                <a:srgbClr val="C8102E"/>
              </a:solidFill>
            </a:endParaRPr>
          </a:p>
        </p:txBody>
      </p:sp>
      <p:sp>
        <p:nvSpPr>
          <p:cNvPr id="132" name="Text 132"/>
          <p:cNvSpPr/>
          <p:nvPr/>
        </p:nvSpPr>
        <p:spPr>
          <a:xfrm>
            <a:off x="4603750" y="28337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</a:t>
            </a:r>
            <a:endParaRPr lang="en-US" sz="750" dirty="0"/>
          </a:p>
        </p:txBody>
      </p:sp>
      <p:sp>
        <p:nvSpPr>
          <p:cNvPr id="133" name="Actual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8750" y="3272000"/>
            <a:ext cx="280000" cy="728000"/>
          </a:xfrm>
          <a:prstGeom prst="rect">
            <a:avLst/>
          </a:prstGeom>
          <a:solidFill>
            <a:schemeClr val="accent4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34" name="Text 134"/>
          <p:cNvSpPr/>
          <p:nvPr/>
        </p:nvSpPr>
        <p:spPr>
          <a:xfrm>
            <a:off x="4908750" y="3077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750"/>
          </a:p>
        </p:txBody>
      </p:sp>
      <p:sp>
        <p:nvSpPr>
          <p:cNvPr id="135" name="Text 13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857500" y="4060000"/>
            <a:ext cx="15475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Infrastructure Mgmt.</a:t>
            </a:r>
            <a:endParaRPr lang="en-US" sz="900"/>
          </a:p>
        </p:txBody>
      </p:sp>
      <p:sp>
        <p:nvSpPr>
          <p:cNvPr id="136" name="Text 136"/>
          <p:cNvSpPr/>
          <p:nvPr/>
        </p:nvSpPr>
        <p:spPr>
          <a:xfrm>
            <a:off x="3857500" y="4300000"/>
            <a:ext cx="15475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Behind -10</a:t>
            </a:r>
            <a:endParaRPr lang="en-US" sz="1000" dirty="0"/>
          </a:p>
        </p:txBody>
      </p:sp>
      <p:sp>
        <p:nvSpPr>
          <p:cNvPr id="137" name="Targe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1250" y="2180000"/>
            <a:ext cx="280000" cy="1820000"/>
          </a:xfrm>
          <a:prstGeom prst="rect">
            <a:avLst/>
          </a:prstGeom>
          <a:solidFill>
            <a:srgbClr val="F49CBB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38" name="Text 138"/>
          <p:cNvSpPr/>
          <p:nvPr/>
        </p:nvSpPr>
        <p:spPr>
          <a:xfrm>
            <a:off x="5581250" y="1985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</a:t>
            </a:r>
            <a:endParaRPr lang="en-US" sz="750"/>
          </a:p>
        </p:txBody>
      </p:sp>
      <p:sp>
        <p:nvSpPr>
          <p:cNvPr id="139" name="6 months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6250" y="2563632"/>
            <a:ext cx="280000" cy="1436368"/>
          </a:xfrm>
          <a:prstGeom prst="rect">
            <a:avLst/>
          </a:prstGeom>
          <a:solidFill>
            <a:srgbClr val="EA3351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40" name="Text 140"/>
          <p:cNvSpPr/>
          <p:nvPr/>
        </p:nvSpPr>
        <p:spPr>
          <a:xfrm>
            <a:off x="5886250" y="238065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80</a:t>
            </a:r>
            <a:endParaRPr lang="en-US" sz="750" dirty="0"/>
          </a:p>
        </p:txBody>
      </p:sp>
      <p:sp>
        <p:nvSpPr>
          <p:cNvPr id="141" name="12 months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1250" y="2917144"/>
            <a:ext cx="280000" cy="1082856"/>
          </a:xfrm>
          <a:prstGeom prst="rect">
            <a:avLst/>
          </a:prstGeom>
          <a:solidFill>
            <a:srgbClr val="921123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>
              <a:solidFill>
                <a:srgbClr val="C8102E"/>
              </a:solidFill>
            </a:endParaRPr>
          </a:p>
        </p:txBody>
      </p:sp>
      <p:sp>
        <p:nvSpPr>
          <p:cNvPr id="142" name="Text 142"/>
          <p:cNvSpPr/>
          <p:nvPr/>
        </p:nvSpPr>
        <p:spPr>
          <a:xfrm>
            <a:off x="6191250" y="2730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</a:t>
            </a:r>
            <a:endParaRPr lang="en-US" sz="750" dirty="0"/>
          </a:p>
        </p:txBody>
      </p:sp>
      <p:sp>
        <p:nvSpPr>
          <p:cNvPr id="143" name="Actual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6250" y="2814664"/>
            <a:ext cx="280000" cy="1185336"/>
          </a:xfrm>
          <a:prstGeom prst="rect">
            <a:avLst/>
          </a:prstGeom>
          <a:solidFill>
            <a:schemeClr val="accent4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44" name="Text 144"/>
          <p:cNvSpPr/>
          <p:nvPr/>
        </p:nvSpPr>
        <p:spPr>
          <a:xfrm>
            <a:off x="6496250" y="2626288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65</a:t>
            </a:r>
            <a:endParaRPr lang="en-US" sz="750" dirty="0"/>
          </a:p>
        </p:txBody>
      </p:sp>
      <p:sp>
        <p:nvSpPr>
          <p:cNvPr id="145" name="Text 14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45000" y="4060000"/>
            <a:ext cx="15475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Documents</a:t>
            </a:r>
            <a:endParaRPr lang="en-US" sz="900"/>
          </a:p>
        </p:txBody>
      </p:sp>
      <p:sp>
        <p:nvSpPr>
          <p:cNvPr id="146" name="Text 146"/>
          <p:cNvSpPr/>
          <p:nvPr/>
        </p:nvSpPr>
        <p:spPr>
          <a:xfrm>
            <a:off x="5445000" y="4300000"/>
            <a:ext cx="15475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Ahead +5</a:t>
            </a:r>
            <a:endParaRPr lang="en-US" sz="1000"/>
          </a:p>
        </p:txBody>
      </p:sp>
      <p:sp>
        <p:nvSpPr>
          <p:cNvPr id="147" name="Targe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750" y="2186927"/>
            <a:ext cx="280000" cy="1820000"/>
          </a:xfrm>
          <a:prstGeom prst="rect">
            <a:avLst/>
          </a:prstGeom>
          <a:solidFill>
            <a:srgbClr val="F49CBB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48" name="Text 148"/>
          <p:cNvSpPr/>
          <p:nvPr/>
        </p:nvSpPr>
        <p:spPr>
          <a:xfrm>
            <a:off x="7168750" y="1985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100</a:t>
            </a:r>
            <a:endParaRPr lang="en-US" sz="750"/>
          </a:p>
        </p:txBody>
      </p:sp>
      <p:sp>
        <p:nvSpPr>
          <p:cNvPr id="149" name="6 months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13750" y="2553144"/>
            <a:ext cx="280000" cy="1446856"/>
          </a:xfrm>
          <a:prstGeom prst="rect">
            <a:avLst/>
          </a:prstGeom>
          <a:solidFill>
            <a:srgbClr val="EA3351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50" name="Text 150"/>
          <p:cNvSpPr/>
          <p:nvPr/>
        </p:nvSpPr>
        <p:spPr>
          <a:xfrm>
            <a:off x="7473750" y="2352075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80</a:t>
            </a:r>
            <a:endParaRPr lang="en-US" sz="750" dirty="0"/>
          </a:p>
        </p:txBody>
      </p:sp>
      <p:sp>
        <p:nvSpPr>
          <p:cNvPr id="151" name="12 months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750" y="2917144"/>
            <a:ext cx="280000" cy="1082856"/>
          </a:xfrm>
          <a:prstGeom prst="rect">
            <a:avLst/>
          </a:prstGeom>
          <a:solidFill>
            <a:srgbClr val="921123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>
              <a:solidFill>
                <a:srgbClr val="C8102E"/>
              </a:solidFill>
            </a:endParaRPr>
          </a:p>
        </p:txBody>
      </p:sp>
      <p:sp>
        <p:nvSpPr>
          <p:cNvPr id="152" name="Text 152"/>
          <p:cNvSpPr/>
          <p:nvPr/>
        </p:nvSpPr>
        <p:spPr>
          <a:xfrm>
            <a:off x="7778750" y="2730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60</a:t>
            </a:r>
            <a:endParaRPr lang="en-US" sz="750" dirty="0"/>
          </a:p>
        </p:txBody>
      </p:sp>
      <p:sp>
        <p:nvSpPr>
          <p:cNvPr id="153" name="Actual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3750" y="3272000"/>
            <a:ext cx="280000" cy="728000"/>
          </a:xfrm>
          <a:prstGeom prst="rect">
            <a:avLst/>
          </a:prstGeom>
          <a:solidFill>
            <a:schemeClr val="accent4"/>
          </a:solidFill>
          <a:ln w="12700">
            <a:noFill/>
            <a:prstDash val="solid"/>
          </a:ln>
          <a:effectLst>
            <a:reflection blurRad="6350" stA="15000" endPos="35000" dir="5400000" sy="-100000" algn="bl" rotWithShape="0"/>
          </a:effectLst>
          <a:scene3d>
            <a:camera prst="orthographicFront"/>
            <a:lightRig rig="threePt" dir="t">
              <a:rot lat="0" lon="0" rev="0"/>
            </a:lightRig>
          </a:scene3d>
          <a:sp3d>
            <a:bevelT w="0" h="0"/>
          </a:sp3d>
        </p:spPr>
        <p:txBody>
          <a:bodyPr/>
          <a:lstStyle/>
          <a:p>
            <a:endParaRPr lang="en-US"/>
          </a:p>
        </p:txBody>
      </p:sp>
      <p:sp>
        <p:nvSpPr>
          <p:cNvPr id="154" name="Text 154"/>
          <p:cNvSpPr/>
          <p:nvPr/>
        </p:nvSpPr>
        <p:spPr>
          <a:xfrm>
            <a:off x="8083750" y="3077000"/>
            <a:ext cx="36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750"/>
          </a:p>
        </p:txBody>
      </p:sp>
      <p:sp>
        <p:nvSpPr>
          <p:cNvPr id="155" name="Text 155"/>
          <p:cNvSpPr/>
          <p:nvPr/>
        </p:nvSpPr>
        <p:spPr>
          <a:xfrm>
            <a:off x="7032500" y="4060000"/>
            <a:ext cx="15475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Software Management</a:t>
            </a:r>
            <a:endParaRPr lang="en-US" sz="900"/>
          </a:p>
        </p:txBody>
      </p:sp>
      <p:sp>
        <p:nvSpPr>
          <p:cNvPr id="156" name="Text 156"/>
          <p:cNvSpPr/>
          <p:nvPr/>
        </p:nvSpPr>
        <p:spPr>
          <a:xfrm>
            <a:off x="7032500" y="4300000"/>
            <a:ext cx="15475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Behind -20</a:t>
            </a:r>
            <a:endParaRPr lang="en-US" sz="1000" dirty="0"/>
          </a:p>
        </p:txBody>
      </p:sp>
      <p:sp>
        <p:nvSpPr>
          <p:cNvPr id="157" name="Legend Targ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0000" y="1800000"/>
            <a:ext cx="150000" cy="150000"/>
          </a:xfrm>
          <a:prstGeom prst="rect">
            <a:avLst/>
          </a:prstGeom>
          <a:solidFill>
            <a:srgbClr val="FFA6C6"/>
          </a:solidFill>
          <a:ln w="6350">
            <a:solidFill>
              <a:schemeClr val="bg2">
                <a:lumMod val="10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8" name="Text 158"/>
          <p:cNvSpPr/>
          <p:nvPr/>
        </p:nvSpPr>
        <p:spPr>
          <a:xfrm>
            <a:off x="2471250" y="3023576"/>
            <a:ext cx="24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M</a:t>
            </a:r>
            <a:endParaRPr lang="en-US" sz="850" dirty="0"/>
          </a:p>
        </p:txBody>
      </p:sp>
      <p:sp>
        <p:nvSpPr>
          <p:cNvPr id="159" name="Legend 6 month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00000" y="1800000"/>
            <a:ext cx="150000" cy="150000"/>
          </a:xfrm>
          <a:prstGeom prst="rect">
            <a:avLst/>
          </a:prstGeom>
          <a:solidFill>
            <a:srgbClr val="F83959"/>
          </a:solidFill>
          <a:ln w="6350">
            <a:solidFill>
              <a:schemeClr val="bg2">
                <a:lumMod val="10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0" name="Text 160"/>
          <p:cNvSpPr/>
          <p:nvPr/>
        </p:nvSpPr>
        <p:spPr>
          <a:xfrm>
            <a:off x="3600000" y="1782000"/>
            <a:ext cx="90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months</a:t>
            </a:r>
            <a:endParaRPr lang="en-US" sz="850" dirty="0"/>
          </a:p>
        </p:txBody>
      </p:sp>
      <p:sp>
        <p:nvSpPr>
          <p:cNvPr id="161" name="Legend 12 month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0000" y="1800000"/>
            <a:ext cx="150000" cy="150000"/>
          </a:xfrm>
          <a:prstGeom prst="rect">
            <a:avLst/>
          </a:prstGeom>
          <a:solidFill>
            <a:srgbClr val="9C1529"/>
          </a:solidFill>
          <a:ln w="6350">
            <a:solidFill>
              <a:schemeClr val="bg2">
                <a:lumMod val="10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2" name="Text 162"/>
          <p:cNvSpPr/>
          <p:nvPr/>
        </p:nvSpPr>
        <p:spPr>
          <a:xfrm>
            <a:off x="4750000" y="1782000"/>
            <a:ext cx="90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months</a:t>
            </a:r>
            <a:endParaRPr lang="en-US" sz="850" dirty="0"/>
          </a:p>
        </p:txBody>
      </p:sp>
      <p:sp>
        <p:nvSpPr>
          <p:cNvPr id="163" name="Legend Actu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00000" y="1800000"/>
            <a:ext cx="150000" cy="150000"/>
          </a:xfrm>
          <a:prstGeom prst="rect">
            <a:avLst/>
          </a:prstGeom>
          <a:solidFill>
            <a:srgbClr val="FFCC05"/>
          </a:solidFill>
          <a:ln w="6350">
            <a:solidFill>
              <a:schemeClr val="bg2">
                <a:lumMod val="10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4" name="Text 164"/>
          <p:cNvSpPr/>
          <p:nvPr/>
        </p:nvSpPr>
        <p:spPr>
          <a:xfrm>
            <a:off x="5900000" y="1782000"/>
            <a:ext cx="90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Actual</a:t>
            </a:r>
            <a:endParaRPr lang="en-US" sz="850"/>
          </a:p>
        </p:txBody>
      </p:sp>
      <p:sp>
        <p:nvSpPr>
          <p:cNvPr id="165" name="Text 165"/>
          <p:cNvSpPr/>
          <p:nvPr/>
        </p:nvSpPr>
        <p:spPr>
          <a:xfrm>
            <a:off x="6950000" y="1782000"/>
            <a:ext cx="170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red vs 6-month bar = on plan?</a:t>
            </a:r>
            <a:endParaRPr lang="en-US" sz="750"/>
          </a:p>
        </p:txBody>
      </p:sp>
      <p:sp>
        <p:nvSpPr>
          <p:cNvPr id="53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850" dirty="0"/>
          </a:p>
        </p:txBody>
      </p:sp>
      <p:sp>
        <p:nvSpPr>
          <p:cNvPr id="101" name="Bas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0000" y="4000000"/>
            <a:ext cx="6350000" cy="9144"/>
          </a:xfrm>
          <a:prstGeom prst="rect">
            <a:avLst/>
          </a:prstGeom>
          <a:solidFill>
            <a:srgbClr val="DCD4C6"/>
          </a:solidFill>
          <a:ln w="9144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7F6F4E-3181-5D98-290D-03511B70A56E}"/>
              </a:ext>
            </a:extLst>
          </p:cNvPr>
          <p:cNvGrpSpPr/>
          <p:nvPr/>
        </p:nvGrpSpPr>
        <p:grpSpPr>
          <a:xfrm>
            <a:off x="170665" y="2247902"/>
            <a:ext cx="1802170" cy="1683246"/>
            <a:chOff x="109705" y="2247902"/>
            <a:chExt cx="1802170" cy="1683246"/>
          </a:xfrm>
        </p:grpSpPr>
        <p:sp>
          <p:nvSpPr>
            <p:cNvPr id="103" name="Text 103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76875" y="2247902"/>
              <a:ext cx="1520000" cy="2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Advice to younger generations</a:t>
              </a:r>
              <a:br>
                <a:rPr lang="en-US" sz="750" b="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</a:br>
              <a:r>
                <a:rPr lang="th-TH" sz="750" b="0" dirty="0">
                  <a:solidFill>
                    <a:srgbClr val="605A52"/>
                  </a:solidFill>
                  <a:latin typeface="TH SarabunPSK" panose="020B0500040200020003" pitchFamily="34" charset="-34"/>
                  <a:ea typeface="Tahoma" pitchFamily="34" charset="-122"/>
                  <a:cs typeface="TH SarabunPSK" panose="020B0500040200020003" pitchFamily="34" charset="-34"/>
                </a:rPr>
                <a:t>สามารถแนะนำคนอื่นได้</a:t>
              </a:r>
              <a:endParaRPr lang="en-US" sz="750" b="0" dirty="0">
                <a:solidFill>
                  <a:srgbClr val="605A52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endParaRPr>
            </a:p>
          </p:txBody>
        </p:sp>
        <p:sp>
          <p:nvSpPr>
            <p:cNvPr id="106" name="Text 106"/>
            <p:cNvSpPr/>
            <p:nvPr/>
          </p:nvSpPr>
          <p:spPr>
            <a:xfrm>
              <a:off x="403579" y="2605536"/>
              <a:ext cx="1508295" cy="2439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br>
                <a:rPr lang="th-TH" sz="75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</a:br>
              <a:r>
                <a:rPr lang="en-US" sz="75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Works independently</a:t>
              </a:r>
              <a:br>
                <a:rPr lang="th-TH" sz="75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</a:br>
              <a:r>
                <a:rPr lang="th-TH" sz="750" dirty="0">
                  <a:solidFill>
                    <a:srgbClr val="605A52"/>
                  </a:solidFill>
                  <a:latin typeface="TH SarabunPSK" panose="020B0500040200020003" pitchFamily="34" charset="-34"/>
                  <a:ea typeface="Tahoma" pitchFamily="34" charset="-122"/>
                  <a:cs typeface="TH SarabunPSK" panose="020B0500040200020003" pitchFamily="34" charset="-34"/>
                </a:rPr>
                <a:t>สามารถทำงานด้วยตนเองแต่ไม่สามารถแนะนำคนอื่นได้</a:t>
              </a:r>
            </a:p>
            <a:p>
              <a:pPr marL="0" indent="0" algn="r">
                <a:buNone/>
              </a:pPr>
              <a:endParaRPr lang="en-US" sz="750" b="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endParaRPr>
            </a:p>
          </p:txBody>
        </p:sp>
        <p:sp>
          <p:nvSpPr>
            <p:cNvPr id="109" name="Text 109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109705" y="2864554"/>
              <a:ext cx="1791089" cy="447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75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Works independently with guidance</a:t>
              </a:r>
              <a:br>
                <a:rPr lang="en-US" sz="75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</a:br>
              <a:r>
                <a:rPr lang="th-TH" sz="750" b="0" dirty="0">
                  <a:solidFill>
                    <a:srgbClr val="605A52"/>
                  </a:solidFill>
                  <a:latin typeface="TH SarabunPSK" panose="020B0500040200020003" pitchFamily="34" charset="-34"/>
                  <a:ea typeface="Tahoma" pitchFamily="34" charset="-122"/>
                  <a:cs typeface="TH SarabunPSK" panose="020B0500040200020003" pitchFamily="34" charset="-34"/>
                </a:rPr>
                <a:t>สามารถทำงานด้วยตัวเองในบางหัวข้อยังต้องขอคำแนะนำจากรุ่นพี่</a:t>
              </a:r>
            </a:p>
          </p:txBody>
        </p:sp>
        <p:sp>
          <p:nvSpPr>
            <p:cNvPr id="112" name="Text 112"/>
            <p:cNvSpPr/>
            <p:nvPr/>
          </p:nvSpPr>
          <p:spPr>
            <a:xfrm>
              <a:off x="237863" y="3408785"/>
              <a:ext cx="1659012" cy="2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Work under supervisor</a:t>
              </a:r>
              <a:br>
                <a:rPr lang="en-US" sz="750" b="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</a:br>
              <a:r>
                <a:rPr lang="th-TH" sz="750" b="0" dirty="0">
                  <a:solidFill>
                    <a:srgbClr val="605A52"/>
                  </a:solidFill>
                  <a:latin typeface="TH SarabunPSK" panose="020B0500040200020003" pitchFamily="34" charset="-34"/>
                  <a:ea typeface="Tahoma" pitchFamily="34" charset="-122"/>
                  <a:cs typeface="TH SarabunPSK" panose="020B0500040200020003" pitchFamily="34" charset="-34"/>
                </a:rPr>
                <a:t>สามารถทำงานภายใต้คำแนะนำของรุ่นพี่</a:t>
              </a:r>
            </a:p>
            <a:p>
              <a:pPr marL="0" indent="0" algn="r">
                <a:buNone/>
              </a:pPr>
              <a:endParaRPr lang="en-US" sz="750" b="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endParaRPr>
            </a:p>
          </p:txBody>
        </p:sp>
        <p:sp>
          <p:nvSpPr>
            <p:cNvPr id="115" name="Text 115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76875" y="3731148"/>
              <a:ext cx="1520000" cy="2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b="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Unable to work</a:t>
              </a:r>
              <a:br>
                <a:rPr lang="en-US" sz="750" b="0" dirty="0">
                  <a:solidFill>
                    <a:srgbClr val="605A52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</a:br>
              <a:r>
                <a:rPr lang="th-TH" sz="750" b="0" dirty="0">
                  <a:solidFill>
                    <a:srgbClr val="605A52"/>
                  </a:solidFill>
                  <a:latin typeface="TH SarabunPSK" panose="020B0500040200020003" pitchFamily="34" charset="-34"/>
                  <a:ea typeface="Tahoma" pitchFamily="34" charset="-122"/>
                  <a:cs typeface="TH SarabunPSK" panose="020B0500040200020003" pitchFamily="34" charset="-34"/>
                </a:rPr>
                <a:t>ไม่สามารถทำงานได้</a:t>
              </a:r>
              <a:endParaRPr lang="en-US" sz="750" b="0" dirty="0">
                <a:solidFill>
                  <a:srgbClr val="605A52"/>
                </a:solidFill>
                <a:latin typeface="TH SarabunPSK" panose="020B0500040200020003" pitchFamily="34" charset="-34"/>
                <a:ea typeface="Tahoma" pitchFamily="34" charset="-122"/>
                <a:cs typeface="TH SarabunPSK" panose="020B0500040200020003" pitchFamily="34" charset="-34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8C952D-D950-3487-8522-A123A4212047}"/>
                </a:ext>
              </a:extLst>
            </p:cNvPr>
            <p:cNvCxnSpPr>
              <a:cxnSpLocks/>
            </p:cNvCxnSpPr>
            <p:nvPr/>
          </p:nvCxnSpPr>
          <p:spPr>
            <a:xfrm>
              <a:off x="253365" y="3635050"/>
              <a:ext cx="1643510" cy="0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A0962BF-FA0E-373A-8A1E-B5793DEA483A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" y="3272000"/>
              <a:ext cx="1653035" cy="0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23B5BA1-B440-8F31-A0BB-73F4512E386B}"/>
                </a:ext>
              </a:extLst>
            </p:cNvPr>
            <p:cNvCxnSpPr>
              <a:cxnSpLocks/>
            </p:cNvCxnSpPr>
            <p:nvPr/>
          </p:nvCxnSpPr>
          <p:spPr>
            <a:xfrm>
              <a:off x="239078" y="2908000"/>
              <a:ext cx="1657797" cy="0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5F280C-F234-ADA2-A3CB-D227B2145AB3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" y="2548763"/>
              <a:ext cx="1668035" cy="0"/>
            </a:xfrm>
            <a:prstGeom prst="line">
              <a:avLst/>
            </a:prstGeom>
            <a:ln w="9525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56BE02F1-8FE8-FC25-549A-24F0664E9A57}"/>
              </a:ext>
            </a:extLst>
          </p:cNvPr>
          <p:cNvSpPr/>
          <p:nvPr/>
        </p:nvSpPr>
        <p:spPr>
          <a:xfrm>
            <a:off x="6218750" y="2503817"/>
            <a:ext cx="663458" cy="5931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299610-9407-764D-173C-36DB96A5E577}"/>
              </a:ext>
            </a:extLst>
          </p:cNvPr>
          <p:cNvCxnSpPr>
            <a:cxnSpLocks/>
            <a:stCxn id="134" idx="3"/>
            <a:endCxn id="132" idx="3"/>
          </p:cNvCxnSpPr>
          <p:nvPr/>
        </p:nvCxnSpPr>
        <p:spPr>
          <a:xfrm flipH="1" flipV="1">
            <a:off x="4963750" y="2923700"/>
            <a:ext cx="305000" cy="243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10F96EE1-EBDA-C18D-563E-B1D6C74BA134}"/>
              </a:ext>
            </a:extLst>
          </p:cNvPr>
          <p:cNvSpPr/>
          <p:nvPr/>
        </p:nvSpPr>
        <p:spPr>
          <a:xfrm rot="5400000">
            <a:off x="3316312" y="2657912"/>
            <a:ext cx="445324" cy="329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158">
            <a:extLst>
              <a:ext uri="{FF2B5EF4-FFF2-40B4-BE49-F238E27FC236}">
                <a16:creationId xmlns:a16="http://schemas.microsoft.com/office/drawing/2014/main" id="{545F74FF-3E7D-4C7F-B485-3BCAA74313A8}"/>
              </a:ext>
            </a:extLst>
          </p:cNvPr>
          <p:cNvSpPr/>
          <p:nvPr/>
        </p:nvSpPr>
        <p:spPr>
          <a:xfrm>
            <a:off x="3102500" y="3350055"/>
            <a:ext cx="240000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highlight>
                  <a:srgbClr val="FFFF00"/>
                </a:highlight>
                <a:latin typeface="Tahoma" pitchFamily="34" charset="0"/>
                <a:ea typeface="Tahoma" pitchFamily="34" charset="-122"/>
                <a:cs typeface="Tahoma" pitchFamily="34" charset="-120"/>
              </a:rPr>
              <a:t>2 M</a:t>
            </a:r>
            <a:endParaRPr lang="en-US" sz="850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Problem &amp; Solution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Two issues arose; both are closed, and the second changed how I work.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288868"/>
              </p:ext>
            </p:extLst>
          </p:nvPr>
        </p:nvGraphicFramePr>
        <p:xfrm>
          <a:off x="502920" y="1755648"/>
          <a:ext cx="8138160" cy="1700784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rgbClr val="605A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rgbClr val="605A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FACT — what happened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rgbClr val="605A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EXPLANATION — why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150" dirty="0">
                          <a:solidFill>
                            <a:srgbClr val="605A5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EVIDENCE — result</a:t>
                      </a:r>
                      <a:endParaRPr lang="en-US" sz="9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[Some user questions could not be answered on the spot.]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[Not enough knowledge of the legacy system yet.]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[Asked seniors, made a note file. Response time now same-day.]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[A job could not be finished alone within the plan.]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[Scope was larger than estimated at kick-off.]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1A1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[Split the work with [name], delivered on [date].]</a:t>
                      </a:r>
                      <a:endParaRPr lang="en-US" sz="9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931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changed in the way I work: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546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[the habit you now keep — e.g. confirm scope in writing before starting].</a:t>
            </a:r>
            <a:endParaRPr lang="en-US" sz="1100" dirty="0"/>
          </a:p>
        </p:txBody>
      </p:sp>
      <p:sp>
        <p:nvSpPr>
          <p:cNvPr id="1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 Next Plan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Request: approval to own [system] from day 90 with monthly review only.</a:t>
            </a:r>
            <a:endParaRPr lang="en-US" sz="1150" dirty="0"/>
          </a:p>
        </p:txBody>
      </p:sp>
      <p:sp>
        <p:nvSpPr>
          <p:cNvPr id="9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81381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901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</a:t>
            </a:r>
            <a:endParaRPr lang="en-US" sz="750" dirty="0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31520" y="20482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</a:t>
            </a:r>
            <a:endParaRPr lang="en-US" sz="1900" dirty="0"/>
          </a:p>
        </p:txBody>
      </p:sp>
      <p:sp>
        <p:nvSpPr>
          <p:cNvPr id="12" name="Cel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6192" y="1911096"/>
            <a:ext cx="10973" cy="42062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55648" y="1892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Close the gap</a:t>
            </a:r>
            <a:endParaRPr lang="en-US" sz="1200" dirty="0"/>
          </a:p>
        </p:txBody>
      </p:sp>
      <p:sp>
        <p:nvSpPr>
          <p:cNvPr id="14" name="Text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55648" y="21488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[Support [RPA]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0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[00-Mmm-26]</a:t>
            </a:r>
            <a:endParaRPr lang="en-US" sz="1000" dirty="0"/>
          </a:p>
        </p:txBody>
      </p:sp>
      <p:sp>
        <p:nvSpPr>
          <p:cNvPr id="16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06040"/>
            <a:ext cx="81381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31520" y="2724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1520" y="28712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60</a:t>
            </a:r>
            <a:endParaRPr lang="en-US" sz="1900" dirty="0"/>
          </a:p>
        </p:txBody>
      </p:sp>
      <p:sp>
        <p:nvSpPr>
          <p:cNvPr id="19" name="Cel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6192" y="2734056"/>
            <a:ext cx="10973" cy="42062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755648" y="2715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 the workstream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55648" y="29718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[Support [RPA]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0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[00-Mmm-26]</a:t>
            </a:r>
            <a:endParaRPr lang="en-US" sz="1000" dirty="0"/>
          </a:p>
        </p:txBody>
      </p:sp>
      <p:sp>
        <p:nvSpPr>
          <p:cNvPr id="23" name="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547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1520" y="369417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</a:t>
            </a:r>
            <a:endParaRPr lang="en-US" sz="1900" dirty="0"/>
          </a:p>
        </p:txBody>
      </p:sp>
      <p:sp>
        <p:nvSpPr>
          <p:cNvPr id="26" name="Cel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36192" y="3557016"/>
            <a:ext cx="10973" cy="42062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55648" y="3538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Widen the coverage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55648" y="37947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[Support [RPA]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40880" y="3538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[00-Mmm-26]</a:t>
            </a:r>
            <a:endParaRPr lang="en-US" sz="1000" dirty="0"/>
          </a:p>
        </p:txBody>
      </p:sp>
      <p:sp>
        <p:nvSpPr>
          <p:cNvPr id="31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417320"/>
            <a:ext cx="54864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Question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658368"/>
            <a:ext cx="585216" cy="585216"/>
          </a:xfrm>
          <a:prstGeom prst="rect">
            <a:avLst/>
          </a:prstGeom>
        </p:spPr>
      </p:pic>
      <p:sp>
        <p:nvSpPr>
          <p:cNvPr id="5" name="Text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71600" y="157276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6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71600" y="22494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578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ご質問をよろしくお願いいたします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2852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05A5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今後ともご指導のほどよろしくお願いいたします</a:t>
            </a:r>
            <a:endParaRPr lang="en-US" sz="1200" dirty="0"/>
          </a:p>
        </p:txBody>
      </p:sp>
      <p:sp>
        <p:nvSpPr>
          <p:cNvPr id="9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9040" y="3310128"/>
            <a:ext cx="164592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71600" y="345643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Mr. Wantanai Kingsai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Div : [CMD]  ·  Dept : [ICS]  ·  Position : [Programmer]</a:t>
            </a:r>
            <a:endParaRPr lang="en-US" sz="1050" dirty="0"/>
          </a:p>
        </p:txBody>
      </p:sp>
      <p:sp>
        <p:nvSpPr>
          <p:cNvPr id="11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215715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 60-day targets were met; I am ready to own [system] from month 3.</a:t>
            </a:r>
            <a:endParaRPr lang="en-US" sz="115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25603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25603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" y="19568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REASON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Why</a:t>
            </a:r>
            <a:endParaRPr lang="en-US" sz="1500" dirty="0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83080"/>
            <a:ext cx="25603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783080"/>
            <a:ext cx="25603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93008" y="19568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EXAMPLE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93008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93008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783080"/>
            <a:ext cx="25603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783080"/>
            <a:ext cx="25603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1928" y="19568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1928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Therefore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81928" y="25603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h-TH" sz="9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Structure: Point → Reason → Example → Point. Replace each bracket with your own facts.</a:t>
            </a:r>
            <a:endParaRPr lang="en-US" sz="900" dirty="0"/>
          </a:p>
        </p:txBody>
      </p:sp>
      <p:sp>
        <p:nvSpPr>
          <p:cNvPr id="25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Wantanai Kingsai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85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0EFD5AF5-CC2E-02FB-5AAC-411F64082AD8}"/>
              </a:ext>
            </a:extLst>
          </p:cNvPr>
          <p:cNvSpPr/>
          <p:nvPr/>
        </p:nvSpPr>
        <p:spPr>
          <a:xfrm>
            <a:off x="4409902" y="576072"/>
            <a:ext cx="38058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  <a:t>//อธิบายภาพรวมสรุปสั้นๆก่อน</a:t>
            </a:r>
            <a:br>
              <a:rPr lang="en-US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</a:br>
            <a:r>
              <a:rPr lang="en-US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  <a:t>REASON | Why = </a:t>
            </a:r>
            <a:r>
              <a:rPr lang="th-TH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  <a:t>ทำไม? / เหตุผลคืออะไร?</a:t>
            </a:r>
          </a:p>
          <a:p>
            <a:r>
              <a:rPr lang="en-US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  <a:t>EXAMPLE | Evidence = </a:t>
            </a:r>
            <a:r>
              <a:rPr lang="th-TH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  <a:t>มีอะไรยืนยัน? / หลักฐานคืออะไร?</a:t>
            </a:r>
          </a:p>
          <a:p>
            <a:r>
              <a:rPr lang="en-US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  <a:t>POINT | Therefore = </a:t>
            </a:r>
            <a:r>
              <a:rPr lang="th-TH" sz="12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  <a:t>ดังนั้นสรุปว่าอะไร?</a:t>
            </a:r>
            <a:b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</a:rPr>
            </a:b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APPENDIX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Icon Library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Copy any icon from this page and paste it into your slides.</a:t>
            </a:r>
            <a:endParaRPr lang="en-US" sz="1150" dirty="0"/>
          </a:p>
        </p:txBody>
      </p:sp>
      <p:sp>
        <p:nvSpPr>
          <p:cNvPr id="9" name="Group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74520"/>
            <a:ext cx="20116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PROGRESS &amp; RESULTS</a:t>
            </a:r>
            <a:endParaRPr lang="en-US" sz="900" dirty="0"/>
          </a:p>
        </p:txBody>
      </p:sp>
      <p:pic>
        <p:nvPicPr>
          <p:cNvPr id="11" name="Image 0" descr="Goal / Targe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258568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48056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Goal / Target</a:t>
            </a:r>
            <a:endParaRPr lang="en-US" sz="800" dirty="0"/>
          </a:p>
        </p:txBody>
      </p:sp>
      <p:pic>
        <p:nvPicPr>
          <p:cNvPr id="13" name="Image 1" descr="Result / Growt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776" y="2258568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35608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Result / Growth</a:t>
            </a:r>
            <a:endParaRPr lang="en-US" sz="800" dirty="0"/>
          </a:p>
        </p:txBody>
      </p:sp>
      <p:pic>
        <p:nvPicPr>
          <p:cNvPr id="15" name="Image 2" descr="Checklis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225856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23160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Checklist</a:t>
            </a:r>
            <a:endParaRPr lang="en-US" sz="800" dirty="0"/>
          </a:p>
        </p:txBody>
      </p:sp>
      <p:pic>
        <p:nvPicPr>
          <p:cNvPr id="17" name="Image 3" descr="Mileston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25856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10712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Milestone</a:t>
            </a:r>
            <a:endParaRPr lang="en-US" sz="800" dirty="0"/>
          </a:p>
        </p:txBody>
      </p:sp>
      <p:sp>
        <p:nvSpPr>
          <p:cNvPr id="19" name="Group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874520"/>
            <a:ext cx="20116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709160" y="19476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 &amp; SKILL</a:t>
            </a:r>
            <a:endParaRPr lang="en-US" sz="900" dirty="0"/>
          </a:p>
        </p:txBody>
      </p:sp>
      <p:pic>
        <p:nvPicPr>
          <p:cNvPr id="21" name="Image 4" descr="System / IT job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2258568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54296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/ IT job</a:t>
            </a:r>
            <a:endParaRPr lang="en-US" sz="800" dirty="0"/>
          </a:p>
        </p:txBody>
      </p:sp>
      <p:pic>
        <p:nvPicPr>
          <p:cNvPr id="23" name="Image 5" descr="Proces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3016" y="2258568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641848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Process</a:t>
            </a:r>
            <a:endParaRPr lang="en-US" sz="800" dirty="0"/>
          </a:p>
        </p:txBody>
      </p:sp>
      <p:pic>
        <p:nvPicPr>
          <p:cNvPr id="25" name="Image 6" descr="Training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0568" y="2258568"/>
            <a:ext cx="402336" cy="40233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629400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Training</a:t>
            </a:r>
            <a:endParaRPr lang="en-US" sz="800" dirty="0"/>
          </a:p>
        </p:txBody>
      </p:sp>
      <p:pic>
        <p:nvPicPr>
          <p:cNvPr id="27" name="Image 7" descr="Analysi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2258568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616952" y="2734056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Analysis</a:t>
            </a:r>
            <a:endParaRPr lang="en-US" sz="800" dirty="0"/>
          </a:p>
        </p:txBody>
      </p:sp>
      <p:sp>
        <p:nvSpPr>
          <p:cNvPr id="29" name="Group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55848"/>
            <a:ext cx="20116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502920" y="3429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PEOPLE &amp; COMMUNICATION</a:t>
            </a:r>
            <a:endParaRPr lang="en-US" sz="900" dirty="0"/>
          </a:p>
        </p:txBody>
      </p:sp>
      <p:pic>
        <p:nvPicPr>
          <p:cNvPr id="31" name="Image 8" descr="Team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" y="3739896"/>
            <a:ext cx="402336" cy="40233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48056" y="42153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Team</a:t>
            </a:r>
            <a:endParaRPr lang="en-US" sz="800" dirty="0"/>
          </a:p>
        </p:txBody>
      </p:sp>
      <p:pic>
        <p:nvPicPr>
          <p:cNvPr id="33" name="Image 9" descr="Support / Thanks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36776" y="3739896"/>
            <a:ext cx="402336" cy="40233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435608" y="42153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/ Thanks</a:t>
            </a:r>
            <a:endParaRPr lang="en-US" sz="800" dirty="0"/>
          </a:p>
        </p:txBody>
      </p:sp>
      <p:pic>
        <p:nvPicPr>
          <p:cNvPr id="35" name="Image 10" descr="Q &amp; A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4328" y="3739896"/>
            <a:ext cx="402336" cy="402336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2423160" y="42153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&amp; A</a:t>
            </a:r>
            <a:endParaRPr lang="en-US" sz="800" dirty="0"/>
          </a:p>
        </p:txBody>
      </p:sp>
      <p:sp>
        <p:nvSpPr>
          <p:cNvPr id="37" name="Group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355848"/>
            <a:ext cx="20116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5"/>
          <p:cNvSpPr/>
          <p:nvPr/>
        </p:nvSpPr>
        <p:spPr>
          <a:xfrm>
            <a:off x="4709160" y="3429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PLAN &amp; ISSUE</a:t>
            </a:r>
            <a:endParaRPr lang="en-US" sz="900" dirty="0"/>
          </a:p>
        </p:txBody>
      </p:sp>
      <p:pic>
        <p:nvPicPr>
          <p:cNvPr id="39" name="Image 11" descr="Schedul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5464" y="3739896"/>
            <a:ext cx="402336" cy="402336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654296" y="42153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</a:t>
            </a:r>
            <a:endParaRPr lang="en-US" sz="800" dirty="0"/>
          </a:p>
        </p:txBody>
      </p:sp>
      <p:pic>
        <p:nvPicPr>
          <p:cNvPr id="41" name="Image 12" descr="Time / Lead time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43016" y="3739896"/>
            <a:ext cx="402336" cy="402336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5641848" y="42153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 / Lead time</a:t>
            </a:r>
            <a:endParaRPr lang="en-US" sz="800" dirty="0"/>
          </a:p>
        </p:txBody>
      </p:sp>
      <p:pic>
        <p:nvPicPr>
          <p:cNvPr id="43" name="Image 13" descr="Problem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30568" y="3739896"/>
            <a:ext cx="402336" cy="402336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629400" y="42153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Problem</a:t>
            </a:r>
            <a:endParaRPr lang="en-US" sz="800" dirty="0"/>
          </a:p>
        </p:txBody>
      </p:sp>
      <p:pic>
        <p:nvPicPr>
          <p:cNvPr id="45" name="Image 14" descr="Solution / Idea 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18120" y="3739896"/>
            <a:ext cx="402336" cy="402336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7616952" y="4215384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Solution / Idea</a:t>
            </a:r>
            <a:endParaRPr lang="en-US" sz="800" dirty="0"/>
          </a:p>
        </p:txBody>
      </p:sp>
      <p:sp>
        <p:nvSpPr>
          <p:cNvPr id="4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1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 [Your Name]</a:t>
            </a:r>
            <a:endParaRPr lang="en-US" sz="850" dirty="0"/>
          </a:p>
        </p:txBody>
      </p:sp>
      <p:sp>
        <p:nvSpPr>
          <p:cNvPr id="49" name="Text 32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"/>
            <a:ext cx="411480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APPENDIX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A1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Icon Library — IT &amp; AI</a:t>
            </a:r>
            <a:endParaRPr lang="en-US" sz="2400" dirty="0"/>
          </a:p>
        </p:txBody>
      </p:sp>
      <p:sp>
        <p:nvSpPr>
          <p:cNvPr id="5" name="Message str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81381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ssa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33856"/>
            <a:ext cx="41148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13385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10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Point: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98448" y="1133856"/>
            <a:ext cx="7223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More icons for computer, AI and Copilot topics.</a:t>
            </a:r>
            <a:endParaRPr lang="en-US" sz="1150" dirty="0"/>
          </a:p>
        </p:txBody>
      </p:sp>
      <p:sp>
        <p:nvSpPr>
          <p:cNvPr id="9" name="Group rule 2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74520"/>
            <a:ext cx="20116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COMPUTER &amp; SYSTEM</a:t>
            </a:r>
            <a:endParaRPr lang="en-US" sz="900" dirty="0"/>
          </a:p>
        </p:txBody>
      </p:sp>
      <p:pic>
        <p:nvPicPr>
          <p:cNvPr id="11" name="Image 0" descr="Serv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64" y="1929384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42616" y="23865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</a:t>
            </a:r>
            <a:endParaRPr lang="en-US" sz="800" dirty="0"/>
          </a:p>
        </p:txBody>
      </p:sp>
      <p:pic>
        <p:nvPicPr>
          <p:cNvPr id="13" name="Image 1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1929384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9624" y="23865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</a:t>
            </a:r>
            <a:endParaRPr lang="en-US" sz="800" dirty="0"/>
          </a:p>
        </p:txBody>
      </p:sp>
      <p:pic>
        <p:nvPicPr>
          <p:cNvPr id="15" name="Image 2" descr="Networ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929384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56632" y="23865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Network</a:t>
            </a:r>
            <a:endParaRPr lang="en-US" sz="800" dirty="0"/>
          </a:p>
        </p:txBody>
      </p:sp>
      <p:pic>
        <p:nvPicPr>
          <p:cNvPr id="17" name="Image 3" descr="Code / Program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1929384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63640" y="23865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/ Program</a:t>
            </a:r>
            <a:endParaRPr lang="en-US" sz="800" dirty="0"/>
          </a:p>
        </p:txBody>
      </p:sp>
      <p:pic>
        <p:nvPicPr>
          <p:cNvPr id="19" name="Image 4" descr="Security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96" y="1929384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70648" y="238658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Security</a:t>
            </a:r>
            <a:endParaRPr lang="en-US" sz="800" dirty="0"/>
          </a:p>
        </p:txBody>
      </p:sp>
      <p:sp>
        <p:nvSpPr>
          <p:cNvPr id="21" name="Group rule 2-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62072"/>
            <a:ext cx="20116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502920" y="2935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</a:t>
            </a:r>
            <a:endParaRPr lang="en-US" sz="900" dirty="0"/>
          </a:p>
        </p:txBody>
      </p:sp>
      <p:pic>
        <p:nvPicPr>
          <p:cNvPr id="23" name="Image 5" descr="AI / Machine learning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6664" y="2916936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642616" y="337413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/ Machine learning</a:t>
            </a:r>
            <a:endParaRPr lang="en-US" sz="800" dirty="0"/>
          </a:p>
        </p:txBody>
      </p:sp>
      <p:pic>
        <p:nvPicPr>
          <p:cNvPr id="25" name="Image 6" descr="Bot / Agen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3672" y="2916936"/>
            <a:ext cx="402336" cy="40233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49624" y="337413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 / Agent</a:t>
            </a:r>
            <a:endParaRPr lang="en-US" sz="800" dirty="0"/>
          </a:p>
        </p:txBody>
      </p:sp>
      <p:pic>
        <p:nvPicPr>
          <p:cNvPr id="27" name="Image 7" descr="AI chat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0680" y="291693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56632" y="337413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chat</a:t>
            </a:r>
            <a:endParaRPr lang="en-US" sz="800" dirty="0"/>
          </a:p>
        </p:txBody>
      </p:sp>
      <p:sp>
        <p:nvSpPr>
          <p:cNvPr id="29" name="Group rule 2-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9624"/>
            <a:ext cx="201168" cy="25603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0"/>
          <p:cNvSpPr/>
          <p:nvPr/>
        </p:nvSpPr>
        <p:spPr>
          <a:xfrm>
            <a:off x="502920" y="39227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COPILOT &amp; AUTOMATION</a:t>
            </a:r>
            <a:endParaRPr lang="en-US" sz="900" dirty="0"/>
          </a:p>
        </p:txBody>
      </p:sp>
      <p:pic>
        <p:nvPicPr>
          <p:cNvPr id="31" name="Image 8" descr="Automation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6664" y="3904488"/>
            <a:ext cx="402336" cy="40233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2642616" y="436168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Automation</a:t>
            </a:r>
            <a:endParaRPr lang="en-US" sz="800" dirty="0"/>
          </a:p>
        </p:txBody>
      </p:sp>
      <p:pic>
        <p:nvPicPr>
          <p:cNvPr id="33" name="Image 9" descr="Idea from AI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3672" y="3904488"/>
            <a:ext cx="402336" cy="40233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849624" y="436168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Idea from AI</a:t>
            </a:r>
            <a:endParaRPr lang="en-US" sz="800" dirty="0"/>
          </a:p>
        </p:txBody>
      </p:sp>
      <p:pic>
        <p:nvPicPr>
          <p:cNvPr id="35" name="Image 10" descr="Task done by AI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0680" y="3904488"/>
            <a:ext cx="402336" cy="402336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056632" y="436168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Task done by AI</a:t>
            </a:r>
            <a:endParaRPr lang="en-US" sz="800" dirty="0"/>
          </a:p>
        </p:txBody>
      </p:sp>
      <p:sp>
        <p:nvSpPr>
          <p:cNvPr id="3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654296"/>
            <a:ext cx="8138160" cy="9144"/>
          </a:xfrm>
          <a:prstGeom prst="rect">
            <a:avLst/>
          </a:prstGeom>
          <a:solidFill>
            <a:srgbClr val="DCD4C6"/>
          </a:solidFill>
          <a:ln w="12700">
            <a:solidFill>
              <a:srgbClr val="DCD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5"/>
          <p:cNvSpPr/>
          <p:nvPr/>
        </p:nvSpPr>
        <p:spPr>
          <a:xfrm>
            <a:off x="50292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Probation Review 60 Days  |  [Your Name]</a:t>
            </a:r>
            <a:endParaRPr lang="en-US" sz="850" dirty="0"/>
          </a:p>
        </p:txBody>
      </p:sp>
      <p:sp>
        <p:nvSpPr>
          <p:cNvPr id="39" name="Text 26"/>
          <p:cNvSpPr/>
          <p:nvPr/>
        </p:nvSpPr>
        <p:spPr>
          <a:xfrm>
            <a:off x="7772400" y="471830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5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1381</Words>
  <Application>Microsoft Office PowerPoint</Application>
  <PresentationFormat>On-screen Show (16:9)</PresentationFormat>
  <Paragraphs>406</Paragraphs>
  <Slides>14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Meiryo UI</vt:lpstr>
      <vt:lpstr>Arial</vt:lpstr>
      <vt:lpstr>Calibri</vt:lpstr>
      <vt:lpstr>Tahoma</vt:lpstr>
      <vt:lpstr>TH SarabunPSK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phubet775</dc:creator>
  <cp:lastModifiedBy>WANTANAI KINGSAI</cp:lastModifiedBy>
  <cp:revision>19</cp:revision>
  <dcterms:created xsi:type="dcterms:W3CDTF">2026-09-10T05:42:58Z</dcterms:created>
  <dcterms:modified xsi:type="dcterms:W3CDTF">2026-09-18T06:26:06Z</dcterms:modified>
</cp:coreProperties>
</file>