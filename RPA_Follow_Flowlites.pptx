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sldIdLst>
    <p:sldId id="269" r:id="rId5"/>
    <p:sldId id="256" r:id="rId6"/>
    <p:sldId id="268" r:id="rId7"/>
    <p:sldId id="264" r:id="rId8"/>
    <p:sldId id="262" r:id="rId9"/>
    <p:sldId id="267" r:id="rId10"/>
    <p:sldId id="258" r:id="rId11"/>
    <p:sldId id="270" r:id="rId12"/>
    <p:sldId id="261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3BCA31-FB5B-E289-6F9E-3EA4EBC16B03}" v="2" dt="2026-09-14T09:24:39.6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>
        <p:scale>
          <a:sx n="100" d="100"/>
          <a:sy n="100" d="100"/>
        </p:scale>
        <p:origin x="98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25/9/2026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F1E86-4100-CBF2-9B19-899967786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B97F85-963E-5F95-44E2-3166C13085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A210D-0686-7504-229D-75003B617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240166-82EC-B620-0644-36BCBE30A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611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3420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2.png"/><Relationship Id="rId3" Type="http://schemas.openxmlformats.org/officeDocument/2006/relationships/image" Target="../media/image13.jpg"/><Relationship Id="rId7" Type="http://schemas.openxmlformats.org/officeDocument/2006/relationships/image" Target="../media/image17.jp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jpg"/><Relationship Id="rId11" Type="http://schemas.openxmlformats.org/officeDocument/2006/relationships/image" Target="../media/image20.png"/><Relationship Id="rId5" Type="http://schemas.openxmlformats.org/officeDocument/2006/relationships/image" Target="../media/image15.jpg"/><Relationship Id="rId15" Type="http://schemas.openxmlformats.org/officeDocument/2006/relationships/image" Target="../media/image24.png"/><Relationship Id="rId10" Type="http://schemas.microsoft.com/office/2007/relationships/hdphoto" Target="../media/hdphoto1.wdp"/><Relationship Id="rId4" Type="http://schemas.openxmlformats.org/officeDocument/2006/relationships/image" Target="../media/image14.jpg"/><Relationship Id="rId9" Type="http://schemas.openxmlformats.org/officeDocument/2006/relationships/image" Target="../media/image19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4CF02F7-DB53-76C0-C31C-0064AED50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489215"/>
              </p:ext>
            </p:extLst>
          </p:nvPr>
        </p:nvGraphicFramePr>
        <p:xfrm>
          <a:off x="1397140" y="678179"/>
          <a:ext cx="437217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7393">
                  <a:extLst>
                    <a:ext uri="{9D8B030D-6E8A-4147-A177-3AD203B41FA5}">
                      <a16:colId xmlns:a16="http://schemas.microsoft.com/office/drawing/2014/main" val="3374087191"/>
                    </a:ext>
                  </a:extLst>
                </a:gridCol>
                <a:gridCol w="1457393">
                  <a:extLst>
                    <a:ext uri="{9D8B030D-6E8A-4147-A177-3AD203B41FA5}">
                      <a16:colId xmlns:a16="http://schemas.microsoft.com/office/drawing/2014/main" val="3706843718"/>
                    </a:ext>
                  </a:extLst>
                </a:gridCol>
                <a:gridCol w="1457393">
                  <a:extLst>
                    <a:ext uri="{9D8B030D-6E8A-4147-A177-3AD203B41FA5}">
                      <a16:colId xmlns:a16="http://schemas.microsoft.com/office/drawing/2014/main" val="3007739688"/>
                    </a:ext>
                  </a:extLst>
                </a:gridCol>
              </a:tblGrid>
              <a:tr h="485556">
                <a:tc>
                  <a:txBody>
                    <a:bodyPr/>
                    <a:lstStyle/>
                    <a:p>
                      <a:r>
                        <a:rPr lang="en-US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Applications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Applications Remain QTY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777838"/>
                  </a:ext>
                </a:extLst>
              </a:tr>
              <a:tr h="485556">
                <a:tc>
                  <a:txBody>
                    <a:bodyPr/>
                    <a:lstStyle/>
                    <a:p>
                      <a:r>
                        <a:rPr lang="en-US" dirty="0"/>
                        <a:t>App </a:t>
                      </a:r>
                      <a:r>
                        <a:rPr lang="th-TH" dirty="0"/>
                        <a:t>1-7 เยอะสุด ตกค้าง*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304547"/>
                  </a:ext>
                </a:extLst>
              </a:tr>
              <a:tr h="2774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99989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35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417320"/>
            <a:ext cx="82296" cy="182880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137160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RPA Flowlites Follow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60120" y="2240280"/>
            <a:ext cx="49613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br>
              <a:rPr lang="th-TH" sz="20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20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ICS</a:t>
            </a:r>
            <a:r>
              <a:rPr lang="th-TH" sz="20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 Follow </a:t>
            </a:r>
            <a:br>
              <a:rPr lang="th-TH" sz="20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2800" b="1" dirty="0">
                <a:solidFill>
                  <a:schemeClr val="accent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Application</a:t>
            </a:r>
            <a:r>
              <a:rPr lang="th-TH" sz="2800" b="1" dirty="0">
                <a:solidFill>
                  <a:schemeClr val="accent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2800" b="1" dirty="0">
                <a:solidFill>
                  <a:schemeClr val="accent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Request Sheet  </a:t>
            </a:r>
            <a:endParaRPr lang="en-US" sz="2800" b="1" dirty="0">
              <a:solidFill>
                <a:schemeClr val="accent4"/>
              </a:solidFill>
            </a:endParaRPr>
          </a:p>
        </p:txBody>
      </p:sp>
      <p:sp>
        <p:nvSpPr>
          <p:cNvPr id="6" name="footer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572000"/>
            <a:ext cx="9144000" cy="4572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46634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2E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Presented to : General Manager  |  30 September 2026</a:t>
            </a:r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A888CE-CCB1-0263-82C9-1EEA909B8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1828800" cy="18288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5486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Background &amp; Purpose  /  </a:t>
            </a:r>
            <a:r>
              <a:rPr lang="en-US" sz="2000" b="1" dirty="0" err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ที่มาและวัตถุประสงค์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548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8039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BDB5DCB-795D-C7D0-8496-8AFE538C07C6}"/>
              </a:ext>
            </a:extLst>
          </p:cNvPr>
          <p:cNvGrpSpPr/>
          <p:nvPr/>
        </p:nvGrpSpPr>
        <p:grpSpPr>
          <a:xfrm>
            <a:off x="170442" y="822959"/>
            <a:ext cx="4088952" cy="3107497"/>
            <a:chOff x="411480" y="1600200"/>
            <a:chExt cx="8321040" cy="1188720"/>
          </a:xfrm>
        </p:grpSpPr>
        <p:sp>
          <p:nvSpPr>
            <p:cNvPr id="7" name="card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1480" y="1600200"/>
              <a:ext cx="8321040" cy="1188720"/>
            </a:xfrm>
            <a:prstGeom prst="rect">
              <a:avLst/>
            </a:prstGeom>
            <a:solidFill>
              <a:srgbClr val="F2F6FB"/>
            </a:solidFill>
            <a:ln w="12700">
              <a:solidFill>
                <a:srgbClr val="D7E0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marker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1480" y="1600200"/>
              <a:ext cx="64008" cy="1188720"/>
            </a:xfrm>
            <a:prstGeom prst="rect">
              <a:avLst/>
            </a:prstGeom>
            <a:solidFill>
              <a:srgbClr val="2B7CD3"/>
            </a:solidFill>
            <a:ln w="12700">
              <a:solidFill>
                <a:srgbClr val="2B7CD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9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62" y="2162972"/>
            <a:ext cx="678426" cy="54857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57162" y="886968"/>
            <a:ext cx="114293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BACKGROUND</a:t>
            </a:r>
          </a:p>
          <a:p>
            <a:pPr marL="0" indent="0">
              <a:buNone/>
            </a:pPr>
            <a:r>
              <a:rPr lang="th-TH" sz="1500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ที่มา</a:t>
            </a:r>
            <a:endParaRPr lang="en-US" sz="1500" dirty="0"/>
          </a:p>
        </p:txBody>
      </p:sp>
      <p:sp>
        <p:nvSpPr>
          <p:cNvPr id="11" name="Text 8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225295" y="1763969"/>
            <a:ext cx="2778355" cy="1463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Tracking pending Flowlites is a repetitive weekly manual task. Automation helps monitor and send notifications automatically, reducing manual work and pending Flowlites</a:t>
            </a:r>
            <a:br>
              <a:rPr lang="th-TH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b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ปัจจุบันการติดตาม </a:t>
            </a:r>
            <a:r>
              <a:rPr lang="en-US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 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ที่ค้างในระบบยังเป็นงาน </a:t>
            </a:r>
            <a:r>
              <a:rPr lang="en-US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Manual 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ที่ต้องดำเนินการซ้ำทุกสัปดาห์ จึงนำ </a:t>
            </a:r>
            <a:r>
              <a:rPr lang="en-US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Automation 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เข้ามาช่วยตรวจสอบและแจ้งเตือนอัตโนมัติ เพื่อลดงานซ้ำของพนักงานและลดจำนวน </a:t>
            </a:r>
            <a:r>
              <a:rPr lang="en-US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 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ที่ค้างในระบบ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FAE22C4-D990-7552-1F44-281B08694860}"/>
              </a:ext>
            </a:extLst>
          </p:cNvPr>
          <p:cNvGrpSpPr/>
          <p:nvPr/>
        </p:nvGrpSpPr>
        <p:grpSpPr>
          <a:xfrm>
            <a:off x="170442" y="4003608"/>
            <a:ext cx="4088952" cy="1085028"/>
            <a:chOff x="411480" y="3017520"/>
            <a:chExt cx="8343900" cy="1188720"/>
          </a:xfrm>
        </p:grpSpPr>
        <p:sp>
          <p:nvSpPr>
            <p:cNvPr id="12" name="card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" y="3017520"/>
              <a:ext cx="83210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7E0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marker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1480" y="3017520"/>
              <a:ext cx="64008" cy="1188720"/>
            </a:xfrm>
            <a:prstGeom prst="rect">
              <a:avLst/>
            </a:prstGeom>
            <a:solidFill>
              <a:srgbClr val="2B7CD3"/>
            </a:solidFill>
            <a:ln w="12700">
              <a:solidFill>
                <a:srgbClr val="2B7CD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4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00" y="4636801"/>
            <a:ext cx="323820" cy="323820"/>
          </a:xfrm>
          <a:prstGeom prst="rect">
            <a:avLst/>
          </a:prstGeom>
        </p:spPr>
      </p:pic>
      <p:sp>
        <p:nvSpPr>
          <p:cNvPr id="15" name="Text 11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34271" y="3771901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OBJECTIVES</a:t>
            </a:r>
          </a:p>
          <a:p>
            <a:pPr marL="0" indent="0">
              <a:buNone/>
            </a:pPr>
            <a:r>
              <a:rPr lang="th-TH" sz="1500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วัตถุประสงค์</a:t>
            </a:r>
            <a:endParaRPr lang="en-US" sz="1500" dirty="0"/>
          </a:p>
        </p:txBody>
      </p:sp>
      <p:sp>
        <p:nvSpPr>
          <p:cNvPr id="16" name="Text 1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07286" y="4221189"/>
            <a:ext cx="2829433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r>
              <a:rPr lang="th-TH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</a:t>
            </a:r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Remove the manual chase </a:t>
            </a:r>
            <a:r>
              <a:rPr lang="th-TH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                           </a:t>
            </a:r>
            <a:r>
              <a:rPr lang="en-US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</a:t>
            </a:r>
            <a:r>
              <a:rPr lang="en-US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ตัดงานที่ทำด้วยมือออก</a:t>
            </a:r>
            <a:b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r>
              <a:rPr lang="th-TH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</a:t>
            </a:r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No missed</a:t>
            </a:r>
            <a:r>
              <a:rPr lang="th-TH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 follow-ups</a:t>
            </a:r>
            <a:r>
              <a:rPr lang="th-TH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                    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 ไม่ปล่อยใบ</a:t>
            </a:r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</a:t>
            </a:r>
            <a:r>
              <a:rPr lang="en-US" sz="130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th-TH" sz="13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ตกหล่น </a:t>
            </a:r>
            <a:endParaRPr lang="en-US" sz="1300" dirty="0">
              <a:solidFill>
                <a:srgbClr val="FF0000"/>
              </a:solidFill>
              <a:latin typeface="Tahoma" pitchFamily="34" charset="0"/>
              <a:ea typeface="Tahoma" pitchFamily="34" charset="-122"/>
              <a:cs typeface="Tahoma" pitchFamily="34" charset="-12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C3253BD-833A-68AA-B2A6-B37B442838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315306"/>
              </p:ext>
            </p:extLst>
          </p:nvPr>
        </p:nvGraphicFramePr>
        <p:xfrm>
          <a:off x="4406060" y="822958"/>
          <a:ext cx="4567497" cy="2226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2499">
                  <a:extLst>
                    <a:ext uri="{9D8B030D-6E8A-4147-A177-3AD203B41FA5}">
                      <a16:colId xmlns:a16="http://schemas.microsoft.com/office/drawing/2014/main" val="3374087191"/>
                    </a:ext>
                  </a:extLst>
                </a:gridCol>
                <a:gridCol w="1522499">
                  <a:extLst>
                    <a:ext uri="{9D8B030D-6E8A-4147-A177-3AD203B41FA5}">
                      <a16:colId xmlns:a16="http://schemas.microsoft.com/office/drawing/2014/main" val="3706843718"/>
                    </a:ext>
                  </a:extLst>
                </a:gridCol>
                <a:gridCol w="1522499">
                  <a:extLst>
                    <a:ext uri="{9D8B030D-6E8A-4147-A177-3AD203B41FA5}">
                      <a16:colId xmlns:a16="http://schemas.microsoft.com/office/drawing/2014/main" val="3007739688"/>
                    </a:ext>
                  </a:extLst>
                </a:gridCol>
              </a:tblGrid>
              <a:tr h="486697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Applications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Applications Remain QTY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777838"/>
                  </a:ext>
                </a:extLst>
              </a:tr>
              <a:tr h="486697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System Request Sheet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304547"/>
                  </a:ext>
                </a:extLst>
              </a:tr>
              <a:tr h="36661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9998980"/>
                  </a:ext>
                </a:extLst>
              </a:tr>
              <a:tr h="36661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048149"/>
                  </a:ext>
                </a:extLst>
              </a:tr>
              <a:tr h="36661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211548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11480" y="5486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Before / After  /  </a:t>
            </a:r>
            <a:r>
              <a:rPr lang="th-TH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เทียบก่อน - หลัง</a:t>
            </a:r>
            <a:endParaRPr lang="en-US" sz="2000" dirty="0"/>
          </a:p>
        </p:txBody>
      </p:sp>
      <p:sp>
        <p:nvSpPr>
          <p:cNvPr id="5" name="Text 3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8321040" y="548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EVIDENCE : 15 minutes by hand becomes 9.30 minutes by the robot, with no matching mistakes  /  </a:t>
            </a:r>
            <a:r>
              <a:rPr lang="th-TH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 : จาก </a:t>
            </a:r>
            <a:r>
              <a:rPr lang="en-US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r>
              <a:rPr lang="th-TH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นาที เหลือ </a:t>
            </a:r>
            <a:r>
              <a:rPr lang="en-US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9.30</a:t>
            </a:r>
            <a:r>
              <a:rPr lang="th-TH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นาที และไม่มีข้อผิดพลาดในการจับคู่ผู้อนุมัติ</a:t>
            </a:r>
            <a:endParaRPr lang="en-US" sz="1400" dirty="0"/>
          </a:p>
        </p:txBody>
      </p:sp>
      <p:sp>
        <p:nvSpPr>
          <p:cNvPr id="7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" y="1417320"/>
            <a:ext cx="4023360" cy="3017520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panel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" y="1417320"/>
            <a:ext cx="4023360" cy="365760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54864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Before : done by a person</a:t>
            </a: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/  </a:t>
            </a:r>
            <a:r>
              <a:rPr lang="th-TH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ก่อน : คนทำ</a:t>
            </a:r>
            <a:endParaRPr lang="en-US" sz="1200" dirty="0"/>
          </a:p>
        </p:txBody>
      </p:sp>
      <p:sp>
        <p:nvSpPr>
          <p:cNvPr id="10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1417320"/>
            <a:ext cx="4023360" cy="3017520"/>
          </a:xfrm>
          <a:prstGeom prst="rect">
            <a:avLst/>
          </a:prstGeom>
          <a:solidFill>
            <a:srgbClr val="E8F1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panel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1417320"/>
            <a:ext cx="4023360" cy="36576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After : the robot takes over</a:t>
            </a:r>
            <a:r>
              <a:rPr lang="en-US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/  </a:t>
            </a:r>
            <a:r>
              <a:rPr lang="th-TH" sz="12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หลัง : ระบบทำ</a:t>
            </a:r>
            <a:endParaRPr lang="en-US" sz="1200" dirty="0"/>
          </a:p>
        </p:txBody>
      </p:sp>
      <p:sp>
        <p:nvSpPr>
          <p:cNvPr id="13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43000" y="1901952"/>
            <a:ext cx="2606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9FB6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07008" y="1901952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Download CSV from </a:t>
            </a:r>
            <a:r>
              <a:rPr lang="en-US" sz="95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Application Request Sheet</a:t>
            </a:r>
            <a:endParaRPr lang="en-US" sz="950" dirty="0"/>
          </a:p>
        </p:txBody>
      </p:sp>
      <p:sp>
        <p:nvSpPr>
          <p:cNvPr id="16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43000" y="2450592"/>
            <a:ext cx="2606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9FB6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07008" y="2450592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Clean columns </a:t>
            </a:r>
            <a:r>
              <a:rPr lang="en-US" sz="9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and </a:t>
            </a:r>
            <a:r>
              <a:rPr lang="en-US" sz="95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format into Excel</a:t>
            </a:r>
            <a:endParaRPr lang="en-US" sz="950" dirty="0"/>
          </a:p>
        </p:txBody>
      </p:sp>
      <p:sp>
        <p:nvSpPr>
          <p:cNvPr id="19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43000" y="2999232"/>
            <a:ext cx="2606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9FB6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07008" y="2999232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List tickets waiting for ICS approval</a:t>
            </a:r>
            <a:endParaRPr lang="en-US" sz="950" dirty="0"/>
          </a:p>
        </p:txBody>
      </p:sp>
      <p:sp>
        <p:nvSpPr>
          <p:cNvPr id="22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43000" y="3547872"/>
            <a:ext cx="2606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9FB6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07008" y="3547872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Send mail to ICS group</a:t>
            </a:r>
            <a:endParaRPr lang="en-US" sz="950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0EA297B-477A-6D8E-587F-4272AFC712A3}"/>
              </a:ext>
            </a:extLst>
          </p:cNvPr>
          <p:cNvGrpSpPr/>
          <p:nvPr/>
        </p:nvGrpSpPr>
        <p:grpSpPr>
          <a:xfrm>
            <a:off x="3863190" y="1901952"/>
            <a:ext cx="621792" cy="2103120"/>
            <a:chOff x="3767328" y="1901952"/>
            <a:chExt cx="621792" cy="2103120"/>
          </a:xfrm>
        </p:grpSpPr>
        <p:sp>
          <p:nvSpPr>
            <p:cNvPr id="15" name="Text 13"/>
            <p:cNvSpPr/>
            <p:nvPr/>
          </p:nvSpPr>
          <p:spPr>
            <a:xfrm>
              <a:off x="3767328" y="1901952"/>
              <a:ext cx="62179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5 min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767328" y="2450592"/>
              <a:ext cx="62179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3 min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767328" y="2999232"/>
              <a:ext cx="62179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3 min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767328" y="3547872"/>
              <a:ext cx="62179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4 min</a:t>
              </a:r>
              <a:endParaRPr lang="en-US" sz="900" dirty="0"/>
            </a:p>
          </p:txBody>
        </p:sp>
      </p:grpSp>
      <p:sp>
        <p:nvSpPr>
          <p:cNvPr id="26" name="Text 23"/>
          <p:cNvSpPr/>
          <p:nvPr/>
        </p:nvSpPr>
        <p:spPr>
          <a:xfrm>
            <a:off x="449015" y="252831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Human</a:t>
            </a:r>
            <a:endParaRPr lang="en-US" sz="900" dirty="0"/>
          </a:p>
        </p:txBody>
      </p:sp>
      <p:sp>
        <p:nvSpPr>
          <p:cNvPr id="27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40680" y="1874520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FB6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504688" y="1874520"/>
            <a:ext cx="2478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Login </a:t>
            </a:r>
            <a:r>
              <a:rPr lang="en-US" sz="900" dirty="0" err="1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</a:t>
            </a:r>
            <a:endParaRPr lang="en-US" sz="900" dirty="0"/>
          </a:p>
        </p:txBody>
      </p:sp>
      <p:sp>
        <p:nvSpPr>
          <p:cNvPr id="30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40680" y="2368296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5504688" y="2368296"/>
            <a:ext cx="2478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Download CSV from </a:t>
            </a:r>
            <a:r>
              <a:rPr lang="en-US" sz="90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Application Request Sheet</a:t>
            </a:r>
            <a:endParaRPr lang="en-US" sz="900" dirty="0"/>
          </a:p>
        </p:txBody>
      </p:sp>
      <p:sp>
        <p:nvSpPr>
          <p:cNvPr id="33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40680" y="2862072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5504688" y="2862072"/>
            <a:ext cx="2478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Clean columns </a:t>
            </a:r>
            <a:r>
              <a:rPr lang="en-US" sz="9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and </a:t>
            </a:r>
            <a:r>
              <a:rPr lang="en-US" sz="90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format into Excel</a:t>
            </a:r>
            <a:endParaRPr lang="en-US" sz="900" dirty="0"/>
          </a:p>
        </p:txBody>
      </p:sp>
      <p:sp>
        <p:nvSpPr>
          <p:cNvPr id="36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40680" y="3355848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5504688" y="3355848"/>
            <a:ext cx="2478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List tickets waiting for ICS approval</a:t>
            </a:r>
            <a:endParaRPr lang="en-US" sz="900" dirty="0"/>
          </a:p>
        </p:txBody>
      </p:sp>
      <p:sp>
        <p:nvSpPr>
          <p:cNvPr id="39" name="step box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40680" y="3849624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5504688" y="3849624"/>
            <a:ext cx="2478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Send mail to Person in charge J2.​</a:t>
            </a:r>
            <a:endParaRPr lang="en-US" sz="9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92C8D1-32DF-8B3E-CDF5-EB1EB84FFB52}"/>
              </a:ext>
            </a:extLst>
          </p:cNvPr>
          <p:cNvGrpSpPr/>
          <p:nvPr/>
        </p:nvGrpSpPr>
        <p:grpSpPr>
          <a:xfrm>
            <a:off x="8160870" y="1874520"/>
            <a:ext cx="621792" cy="2395728"/>
            <a:chOff x="8065008" y="1874520"/>
            <a:chExt cx="621792" cy="2395728"/>
          </a:xfrm>
        </p:grpSpPr>
        <p:sp>
          <p:nvSpPr>
            <p:cNvPr id="29" name="Text 26"/>
            <p:cNvSpPr/>
            <p:nvPr/>
          </p:nvSpPr>
          <p:spPr>
            <a:xfrm>
              <a:off x="8065008" y="1874520"/>
              <a:ext cx="621792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th-TH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1</a:t>
              </a: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min</a:t>
              </a:r>
              <a:endParaRPr lang="en-US" sz="900" dirty="0"/>
            </a:p>
          </p:txBody>
        </p:sp>
        <p:sp>
          <p:nvSpPr>
            <p:cNvPr id="32" name="Text 29"/>
            <p:cNvSpPr/>
            <p:nvPr/>
          </p:nvSpPr>
          <p:spPr>
            <a:xfrm>
              <a:off x="8065008" y="2368296"/>
              <a:ext cx="621792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4 min</a:t>
              </a:r>
              <a:endParaRPr lang="en-US" sz="900" dirty="0"/>
            </a:p>
          </p:txBody>
        </p:sp>
        <p:sp>
          <p:nvSpPr>
            <p:cNvPr id="35" name="Text 32"/>
            <p:cNvSpPr/>
            <p:nvPr/>
          </p:nvSpPr>
          <p:spPr>
            <a:xfrm>
              <a:off x="8065008" y="2862072"/>
              <a:ext cx="621792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th-TH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1.30</a:t>
              </a: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min</a:t>
              </a:r>
              <a:endParaRPr lang="en-US" sz="900" dirty="0"/>
            </a:p>
          </p:txBody>
        </p:sp>
        <p:sp>
          <p:nvSpPr>
            <p:cNvPr id="38" name="Text 35"/>
            <p:cNvSpPr/>
            <p:nvPr/>
          </p:nvSpPr>
          <p:spPr>
            <a:xfrm>
              <a:off x="8065008" y="3355848"/>
              <a:ext cx="621792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th-TH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1.30</a:t>
              </a: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min</a:t>
              </a:r>
              <a:endParaRPr lang="en-US" sz="900" dirty="0"/>
            </a:p>
          </p:txBody>
        </p:sp>
        <p:sp>
          <p:nvSpPr>
            <p:cNvPr id="41" name="Text 38"/>
            <p:cNvSpPr/>
            <p:nvPr/>
          </p:nvSpPr>
          <p:spPr>
            <a:xfrm>
              <a:off x="8065008" y="3849624"/>
              <a:ext cx="621792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th-TH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1.30</a:t>
              </a:r>
              <a:r>
                <a:rPr lang="en-US" sz="900" b="1" dirty="0">
                  <a:solidFill>
                    <a:srgbClr val="1B5FA8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min</a:t>
              </a:r>
              <a:endParaRPr lang="en-US" sz="900" dirty="0"/>
            </a:p>
          </p:txBody>
        </p:sp>
      </p:grpSp>
      <p:sp>
        <p:nvSpPr>
          <p:cNvPr id="44" name="Text 39"/>
          <p:cNvSpPr/>
          <p:nvPr/>
        </p:nvSpPr>
        <p:spPr>
          <a:xfrm>
            <a:off x="4777740" y="339891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Robot</a:t>
            </a:r>
            <a:endParaRPr lang="en-US" sz="900" dirty="0">
              <a:solidFill>
                <a:schemeClr val="accent2"/>
              </a:solidFill>
            </a:endParaRPr>
          </a:p>
        </p:txBody>
      </p:sp>
      <p:sp>
        <p:nvSpPr>
          <p:cNvPr id="45" name="summary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" y="4498848"/>
            <a:ext cx="8321040" cy="43891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411480" y="449884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Saved 15 min/week = 12 hours/year, and </a:t>
            </a:r>
            <a:r>
              <a:rPr lang="en-US" sz="1250" b="1" u="sng" dirty="0">
                <a:solidFill>
                  <a:srgbClr val="00B05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 wrong-recipient mails</a:t>
            </a:r>
            <a:br>
              <a:rPr lang="en-US" sz="125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25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ประหยัด 28 นาที ต่อสัปดาห์ = 22.4 ชั่วโมง ต่อปี และส่งผิดคน 0 ครั้ง</a:t>
            </a:r>
            <a:endParaRPr lang="en-US" sz="1250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E6204A96-7082-AB01-3719-126F9BECD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>
            <a:fillRect/>
          </a:stretch>
        </p:blipFill>
        <p:spPr>
          <a:xfrm>
            <a:off x="411480" y="1875995"/>
            <a:ext cx="715150" cy="71515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28E5312-C903-AD14-5351-C798EE0B5B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818298" y="2881835"/>
            <a:ext cx="521208" cy="521208"/>
          </a:xfrm>
          <a:prstGeom prst="rect">
            <a:avLst/>
          </a:prstGeom>
        </p:spPr>
      </p:pic>
      <p:sp>
        <p:nvSpPr>
          <p:cNvPr id="50" name="Text 23">
            <a:extLst>
              <a:ext uri="{FF2B5EF4-FFF2-40B4-BE49-F238E27FC236}">
                <a16:creationId xmlns:a16="http://schemas.microsoft.com/office/drawing/2014/main" id="{D8E274C8-FAD3-18D6-F429-D1C42794652B}"/>
              </a:ext>
            </a:extLst>
          </p:cNvPr>
          <p:cNvSpPr/>
          <p:nvPr/>
        </p:nvSpPr>
        <p:spPr>
          <a:xfrm>
            <a:off x="4746695" y="25034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Human</a:t>
            </a:r>
            <a:endParaRPr lang="en-US" sz="900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BC8E576E-9457-E3AD-636D-13192A4167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>
            <a:fillRect/>
          </a:stretch>
        </p:blipFill>
        <p:spPr>
          <a:xfrm>
            <a:off x="4709160" y="1854167"/>
            <a:ext cx="715150" cy="715150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77EDB362-AB66-9AEC-10A8-BB3F1E6E5539}"/>
              </a:ext>
            </a:extLst>
          </p:cNvPr>
          <p:cNvSpPr/>
          <p:nvPr/>
        </p:nvSpPr>
        <p:spPr>
          <a:xfrm>
            <a:off x="5380064" y="2295144"/>
            <a:ext cx="2730664" cy="2033507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BBCE02AD-887B-7A55-7117-0AEA973E0FCE}"/>
              </a:ext>
            </a:extLst>
          </p:cNvPr>
          <p:cNvSpPr/>
          <p:nvPr/>
        </p:nvSpPr>
        <p:spPr>
          <a:xfrm>
            <a:off x="7644938" y="4424033"/>
            <a:ext cx="1361902" cy="339991"/>
          </a:xfrm>
          <a:prstGeom prst="wedgeRoundRectCallout">
            <a:avLst>
              <a:gd name="adj1" fmla="val 6125"/>
              <a:gd name="adj2" fmla="val -120874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TOTAL = 9.30 Min</a:t>
            </a:r>
          </a:p>
        </p:txBody>
      </p:sp>
      <p:sp>
        <p:nvSpPr>
          <p:cNvPr id="43" name="Speech Bubble: Rectangle with Corners Rounded 42">
            <a:extLst>
              <a:ext uri="{FF2B5EF4-FFF2-40B4-BE49-F238E27FC236}">
                <a16:creationId xmlns:a16="http://schemas.microsoft.com/office/drawing/2014/main" id="{272719F7-6C7D-5D8F-55E7-8B34EC1C2D9D}"/>
              </a:ext>
            </a:extLst>
          </p:cNvPr>
          <p:cNvSpPr/>
          <p:nvPr/>
        </p:nvSpPr>
        <p:spPr>
          <a:xfrm>
            <a:off x="3001759" y="4069080"/>
            <a:ext cx="1361902" cy="339991"/>
          </a:xfrm>
          <a:prstGeom prst="wedgeRoundRectCallout">
            <a:avLst>
              <a:gd name="adj1" fmla="val 22910"/>
              <a:gd name="adj2" fmla="val -94387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TOTAL = 15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5486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System in Action</a:t>
            </a:r>
            <a:r>
              <a:rPr lang="en-US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/  </a:t>
            </a:r>
            <a:r>
              <a:rPr lang="th-TH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ภาพการทำงานจริง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548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EVIDENCE : </a:t>
            </a:r>
            <a:r>
              <a:rPr lang="en-US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</a:t>
            </a:r>
            <a:r>
              <a:rPr lang="en-US" sz="1400" b="1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live workflow and </a:t>
            </a:r>
            <a:r>
              <a:rPr lang="en-US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</a:t>
            </a:r>
            <a:r>
              <a:rPr lang="en-US" sz="1400" b="1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mail</a:t>
            </a:r>
            <a:r>
              <a:rPr lang="en-US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400" b="1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it sends to each approver  /  </a:t>
            </a:r>
            <a:r>
              <a:rPr lang="th-TH" sz="1400" b="1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 : ภาพขั้นตอนจริงและอีเมลที่ระบบส่งออกไป</a:t>
            </a:r>
            <a:endParaRPr lang="en-US" sz="1400" dirty="0"/>
          </a:p>
        </p:txBody>
      </p:sp>
      <p:sp>
        <p:nvSpPr>
          <p:cNvPr id="7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463040"/>
            <a:ext cx="4023360" cy="3063240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panel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463040"/>
            <a:ext cx="4023360" cy="38404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6576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Automation workflow</a:t>
            </a:r>
            <a:endParaRPr lang="en-US" sz="1250" dirty="0"/>
          </a:p>
        </p:txBody>
      </p:sp>
      <p:sp>
        <p:nvSpPr>
          <p:cNvPr id="11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1463040"/>
            <a:ext cx="4023360" cy="3063240"/>
          </a:xfrm>
          <a:prstGeom prst="rect">
            <a:avLst/>
          </a:prstGeom>
          <a:solidFill>
            <a:srgbClr val="E8F1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panel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1463040"/>
            <a:ext cx="4023360" cy="384048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84632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Result Sent Mail (Test)</a:t>
            </a:r>
            <a:endParaRPr lang="en-US" sz="1250" dirty="0"/>
          </a:p>
        </p:txBody>
      </p:sp>
      <p:pic>
        <p:nvPicPr>
          <p:cNvPr id="14" name="Image 1" descr="Result delive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938528"/>
            <a:ext cx="3108960" cy="2487168"/>
          </a:xfrm>
          <a:prstGeom prst="rect">
            <a:avLst/>
          </a:prstGeom>
        </p:spPr>
      </p:pic>
      <p:sp>
        <p:nvSpPr>
          <p:cNvPr id="15" name="Text 11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11480" y="4572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Five steps </a:t>
            </a:r>
            <a:r>
              <a:rPr lang="en-US" sz="11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run </a:t>
            </a:r>
            <a:r>
              <a:rPr lang="en-US" sz="1100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unattended</a:t>
            </a:r>
            <a:r>
              <a:rPr lang="en-US" sz="11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/  5 </a:t>
            </a:r>
            <a:r>
              <a:rPr lang="th-TH" sz="11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ขั้นตอนทำงานเอง</a:t>
            </a:r>
            <a:endParaRPr lang="en-US" sz="1100" dirty="0"/>
          </a:p>
        </p:txBody>
      </p:sp>
      <p:sp>
        <p:nvSpPr>
          <p:cNvPr id="16" name="Text 1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709160" y="4572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Mail sent to each approver  /  </a:t>
            </a:r>
            <a:r>
              <a:rPr lang="th-TH" sz="1100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ส่งเมลถึงผู้อนุมัติอัตโนมัติ</a:t>
            </a: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07E1089-0570-64D3-FBB4-D1EA0255C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3260" y="1997465"/>
            <a:ext cx="1562100" cy="23022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262058A5-DB76-FF5F-287E-AB3AD058EF48}"/>
              </a:ext>
            </a:extLst>
          </p:cNvPr>
          <p:cNvSpPr/>
          <p:nvPr/>
        </p:nvSpPr>
        <p:spPr>
          <a:xfrm>
            <a:off x="7056120" y="3083243"/>
            <a:ext cx="1264920" cy="3352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124C12-277D-DD42-8F8B-5E7866F077DD}"/>
              </a:ext>
            </a:extLst>
          </p:cNvPr>
          <p:cNvSpPr/>
          <p:nvPr/>
        </p:nvSpPr>
        <p:spPr>
          <a:xfrm>
            <a:off x="7787640" y="2157413"/>
            <a:ext cx="441960" cy="147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CB78B4-2070-A2DE-1EA2-DA3417D6A407}"/>
              </a:ext>
            </a:extLst>
          </p:cNvPr>
          <p:cNvSpPr/>
          <p:nvPr/>
        </p:nvSpPr>
        <p:spPr>
          <a:xfrm>
            <a:off x="7076121" y="2667001"/>
            <a:ext cx="534353" cy="147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B3D34A68-500E-4BBA-93EA-6D26CD9926BE}"/>
              </a:ext>
            </a:extLst>
          </p:cNvPr>
          <p:cNvSpPr/>
          <p:nvPr/>
        </p:nvSpPr>
        <p:spPr>
          <a:xfrm>
            <a:off x="5808345" y="3736975"/>
            <a:ext cx="1184910" cy="263525"/>
          </a:xfrm>
          <a:prstGeom prst="wedgeRoundRectCallout">
            <a:avLst>
              <a:gd name="adj1" fmla="val 60482"/>
              <a:gd name="adj2" fmla="val -180934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Application No.</a:t>
            </a:r>
          </a:p>
        </p:txBody>
      </p:sp>
      <p:sp>
        <p:nvSpPr>
          <p:cNvPr id="28" name="Speech Bubble: Rectangle with Corners Rounded 27">
            <a:extLst>
              <a:ext uri="{FF2B5EF4-FFF2-40B4-BE49-F238E27FC236}">
                <a16:creationId xmlns:a16="http://schemas.microsoft.com/office/drawing/2014/main" id="{F2145EBF-EF2D-0995-E6D2-B47468227496}"/>
              </a:ext>
            </a:extLst>
          </p:cNvPr>
          <p:cNvSpPr/>
          <p:nvPr/>
        </p:nvSpPr>
        <p:spPr>
          <a:xfrm>
            <a:off x="6393179" y="1897453"/>
            <a:ext cx="600075" cy="263525"/>
          </a:xfrm>
          <a:prstGeom prst="wedgeRoundRectCallout">
            <a:avLst>
              <a:gd name="adj1" fmla="val 179145"/>
              <a:gd name="adj2" fmla="val 55812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Name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3503E59-AEE5-A88C-F6BF-1E5926D746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907" y="1929874"/>
            <a:ext cx="3131820" cy="25044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FC6292D-8A78-FD25-5DD3-EFFB019CE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417" y="1970553"/>
            <a:ext cx="536700" cy="24317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A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777240"/>
            <a:ext cx="82296" cy="100584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7772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Next Steps &amp; Schedule </a:t>
            </a:r>
            <a:br>
              <a:rPr lang="th-TH" sz="2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แผนงานต่อไป</a:t>
            </a:r>
            <a:endParaRPr lang="en-US" sz="2800" dirty="0"/>
          </a:p>
        </p:txBody>
      </p:sp>
      <p:sp>
        <p:nvSpPr>
          <p:cNvPr id="100" name="month 0"/>
          <p:cNvSpPr/>
          <p:nvPr/>
        </p:nvSpPr>
        <p:spPr>
          <a:xfrm>
            <a:off x="640080" y="2011680"/>
            <a:ext cx="1549908" cy="320040"/>
          </a:xfrm>
          <a:prstGeom prst="rect">
            <a:avLst/>
          </a:prstGeom>
          <a:solidFill>
            <a:srgbClr val="1B4370"/>
          </a:solidFill>
          <a:ln w="12700">
            <a:solidFill>
              <a:srgbClr val="2B7CD3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Oct 2026</a:t>
            </a:r>
          </a:p>
        </p:txBody>
      </p:sp>
      <p:sp>
        <p:nvSpPr>
          <p:cNvPr id="101" name="month 1"/>
          <p:cNvSpPr/>
          <p:nvPr/>
        </p:nvSpPr>
        <p:spPr>
          <a:xfrm>
            <a:off x="2212848" y="2011680"/>
            <a:ext cx="1549908" cy="320040"/>
          </a:xfrm>
          <a:prstGeom prst="rect">
            <a:avLst/>
          </a:prstGeom>
          <a:solidFill>
            <a:srgbClr val="1B4370"/>
          </a:solidFill>
          <a:ln w="12700">
            <a:solidFill>
              <a:srgbClr val="2B7CD3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Nov 2026</a:t>
            </a:r>
          </a:p>
        </p:txBody>
      </p:sp>
      <p:sp>
        <p:nvSpPr>
          <p:cNvPr id="102" name="month 2"/>
          <p:cNvSpPr/>
          <p:nvPr/>
        </p:nvSpPr>
        <p:spPr>
          <a:xfrm>
            <a:off x="3785616" y="2011680"/>
            <a:ext cx="1549908" cy="320040"/>
          </a:xfrm>
          <a:prstGeom prst="rect">
            <a:avLst/>
          </a:prstGeom>
          <a:solidFill>
            <a:srgbClr val="1B4370"/>
          </a:solidFill>
          <a:ln w="12700">
            <a:solidFill>
              <a:srgbClr val="2B7CD3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Dec 2026</a:t>
            </a:r>
          </a:p>
        </p:txBody>
      </p:sp>
      <p:sp>
        <p:nvSpPr>
          <p:cNvPr id="103" name="month 3"/>
          <p:cNvSpPr/>
          <p:nvPr/>
        </p:nvSpPr>
        <p:spPr>
          <a:xfrm>
            <a:off x="5358384" y="2011680"/>
            <a:ext cx="1549908" cy="320040"/>
          </a:xfrm>
          <a:prstGeom prst="rect">
            <a:avLst/>
          </a:prstGeom>
          <a:solidFill>
            <a:srgbClr val="1B4370"/>
          </a:solidFill>
          <a:ln w="12700">
            <a:solidFill>
              <a:srgbClr val="2B7CD3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Jan 2027</a:t>
            </a:r>
          </a:p>
        </p:txBody>
      </p:sp>
      <p:sp>
        <p:nvSpPr>
          <p:cNvPr id="104" name="month 4"/>
          <p:cNvSpPr/>
          <p:nvPr/>
        </p:nvSpPr>
        <p:spPr>
          <a:xfrm>
            <a:off x="6931152" y="2011680"/>
            <a:ext cx="1549908" cy="320040"/>
          </a:xfrm>
          <a:prstGeom prst="rect">
            <a:avLst/>
          </a:prstGeom>
          <a:solidFill>
            <a:srgbClr val="1B4370"/>
          </a:solidFill>
          <a:ln w="12700">
            <a:solidFill>
              <a:srgbClr val="2B7CD3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Feb 2027</a:t>
            </a:r>
          </a:p>
        </p:txBody>
      </p:sp>
      <p:sp>
        <p:nvSpPr>
          <p:cNvPr id="105" name="phase bar"/>
          <p:cNvSpPr/>
          <p:nvPr/>
        </p:nvSpPr>
        <p:spPr>
          <a:xfrm>
            <a:off x="640080" y="2468880"/>
            <a:ext cx="4695444" cy="64008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Application Access sheet : build and test    </a:t>
            </a:r>
          </a:p>
          <a:p>
            <a:pPr marL="0" indent="0" algn="ctr">
              <a:buNone/>
            </a:pPr>
            <a:r>
              <a:rPr lang="th-TH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พัฒนาและทดสอบกับงานจริง</a:t>
            </a:r>
          </a:p>
        </p:txBody>
      </p:sp>
      <p:sp>
        <p:nvSpPr>
          <p:cNvPr id="106" name="golive bar"/>
          <p:cNvSpPr/>
          <p:nvPr/>
        </p:nvSpPr>
        <p:spPr>
          <a:xfrm>
            <a:off x="5358384" y="2468880"/>
            <a:ext cx="3122676" cy="640080"/>
          </a:xfrm>
          <a:prstGeom prst="rect">
            <a:avLst/>
          </a:prstGeom>
          <a:solidFill>
            <a:srgbClr val="1B4370"/>
          </a:solidFill>
          <a:ln w="12700">
            <a:solidFill>
              <a:srgbClr val="2B7CD3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D7E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 live and review  </a:t>
            </a:r>
            <a:br>
              <a:rPr lang="en-US" sz="1100" b="1" dirty="0">
                <a:solidFill>
                  <a:srgbClr val="C7D7E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100" dirty="0">
                <a:solidFill>
                  <a:srgbClr val="C7D7E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เริ่มใช้งานจริงและติดตามผล</a:t>
            </a:r>
          </a:p>
        </p:txBody>
      </p:sp>
      <p:sp>
        <p:nvSpPr>
          <p:cNvPr id="107" name="milestone"/>
          <p:cNvSpPr/>
          <p:nvPr/>
        </p:nvSpPr>
        <p:spPr>
          <a:xfrm>
            <a:off x="640080" y="3291840"/>
            <a:ext cx="7863840" cy="3200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0F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▼  Jan 2027 : first mail sent automatically from the new sheet  /  </a:t>
            </a:r>
            <a:r>
              <a:rPr lang="th-TH" sz="1100" b="1" dirty="0">
                <a:solidFill>
                  <a:srgbClr val="00B0F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เมลฉบับแรกจาก Sheet ใหม่</a:t>
            </a:r>
          </a:p>
        </p:txBody>
      </p:sp>
      <p:sp>
        <p:nvSpPr>
          <p:cNvPr id="108" name="request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■ Request to GM  /  สิ่งที่ขออนุมัติ</a:t>
            </a:r>
          </a:p>
          <a:p>
            <a:pPr marL="0" indent="0" algn="l">
              <a:buNone/>
            </a:pPr>
            <a:r>
              <a:rPr lang="en-US" sz="1150" dirty="0">
                <a:solidFill>
                  <a:srgbClr val="C7D7E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Approve the pilot on the Application Access sheet, then apply the same pattern to the remaining sheets </a:t>
            </a:r>
            <a:br>
              <a:rPr lang="en-US" sz="1150" dirty="0">
                <a:solidFill>
                  <a:srgbClr val="C7D7E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150" dirty="0">
                <a:solidFill>
                  <a:srgbClr val="C7D7E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ขออนุมัตินำร่องที่ Sheet Application Access ก่อน แล้วขยายไป Sheet อื่นต่อไป</a:t>
            </a:r>
          </a:p>
        </p:txBody>
      </p:sp>
      <p:sp>
        <p:nvSpPr>
          <p:cNvPr id="19" name="Text 17"/>
          <p:cNvSpPr/>
          <p:nvPr/>
        </p:nvSpPr>
        <p:spPr>
          <a:xfrm>
            <a:off x="640080" y="4590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0F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RPA Flowlites : giving time back to people, for work that creates more value  </a:t>
            </a:r>
            <a:br>
              <a:rPr lang="en-US" sz="1300" b="1" dirty="0">
                <a:solidFill>
                  <a:srgbClr val="00B0F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300" b="1" dirty="0">
                <a:solidFill>
                  <a:srgbClr val="00B0F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คืนเวลาให้คน เพื่อไปทำงานที่สร้างคุณค่ามากกว่า</a:t>
            </a:r>
            <a:endParaRPr lang="en-US" sz="13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5486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Results </a:t>
            </a:r>
            <a:r>
              <a:rPr lang="en-US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&amp; Limitations  </a:t>
            </a: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/  </a:t>
            </a:r>
            <a:r>
              <a:rPr lang="th-TH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สรุปผลและข้อจำกัดที่เจอ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548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Time comes back to the team and no mail goes to the wrong person</a:t>
            </a:r>
            <a:br>
              <a:rPr lang="en-US" sz="16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6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เวลากลับคืนสู่ทีม และไม่มีเมลส่งผิดคน</a:t>
            </a:r>
            <a:endParaRPr lang="en-US" sz="1600" dirty="0"/>
          </a:p>
        </p:txBody>
      </p:sp>
      <p:sp>
        <p:nvSpPr>
          <p:cNvPr id="7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" y="1508760"/>
            <a:ext cx="2596896" cy="1600200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op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" y="1508760"/>
            <a:ext cx="2596896" cy="64008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1675830"/>
            <a:ext cx="420624" cy="3973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1480" y="166420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3400" dirty="0"/>
          </a:p>
        </p:txBody>
      </p:sp>
      <p:sp>
        <p:nvSpPr>
          <p:cNvPr id="11" name="Text 8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11480" y="2350008"/>
            <a:ext cx="259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Hours / Year</a:t>
            </a:r>
            <a:endParaRPr lang="en-US" dirty="0"/>
          </a:p>
        </p:txBody>
      </p:sp>
      <p:sp>
        <p:nvSpPr>
          <p:cNvPr id="12" name="Text 9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11480" y="267004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Time</a:t>
            </a:r>
            <a:r>
              <a:rPr lang="en-US" sz="1200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2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given back  /  </a:t>
            </a:r>
            <a:r>
              <a:rPr lang="th-TH" sz="12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เวลาที่คืนให้ทีม</a:t>
            </a:r>
            <a:endParaRPr lang="en-US" sz="1200" dirty="0"/>
          </a:p>
        </p:txBody>
      </p:sp>
      <p:sp>
        <p:nvSpPr>
          <p:cNvPr id="13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73552" y="1508760"/>
            <a:ext cx="2596896" cy="1600200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op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73552" y="1508760"/>
            <a:ext cx="2596896" cy="64008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3273552" y="166420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endParaRPr lang="en-US" sz="3400" dirty="0"/>
          </a:p>
        </p:txBody>
      </p:sp>
      <p:sp>
        <p:nvSpPr>
          <p:cNvPr id="17" name="Text 13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73552" y="2350008"/>
            <a:ext cx="259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Min / Week</a:t>
            </a:r>
            <a:endParaRPr lang="en-US" dirty="0"/>
          </a:p>
        </p:txBody>
      </p:sp>
      <p:sp>
        <p:nvSpPr>
          <p:cNvPr id="18" name="Text 14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73552" y="267004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Saved weekly  /  </a:t>
            </a:r>
            <a:r>
              <a:rPr lang="th-TH" sz="12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ต่อสัปดาห์</a:t>
            </a:r>
            <a:endParaRPr lang="en-US" sz="1200" dirty="0"/>
          </a:p>
        </p:txBody>
      </p:sp>
      <p:sp>
        <p:nvSpPr>
          <p:cNvPr id="19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35624" y="1508760"/>
            <a:ext cx="2596896" cy="1600200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op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35624" y="1508760"/>
            <a:ext cx="2596896" cy="64008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677187"/>
            <a:ext cx="420624" cy="39466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135624" y="166420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E2A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0%</a:t>
            </a:r>
            <a:endParaRPr lang="en-US" sz="3400" dirty="0"/>
          </a:p>
        </p:txBody>
      </p:sp>
      <p:sp>
        <p:nvSpPr>
          <p:cNvPr id="23" name="Text 18"/>
          <p:cNvSpPr/>
          <p:nvPr/>
        </p:nvSpPr>
        <p:spPr>
          <a:xfrm>
            <a:off x="6135624" y="2350008"/>
            <a:ext cx="259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Wrong Mails</a:t>
            </a: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6135624" y="267004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 wrong recipient  </a:t>
            </a:r>
            <a:r>
              <a:rPr lang="en-US" sz="1200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/  </a:t>
            </a:r>
            <a:r>
              <a:rPr lang="th-TH" sz="120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ไม่มีเมลส่งผิดคน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11480" y="3456431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■ Limitations found so far  /  </a:t>
            </a:r>
            <a:r>
              <a:rPr lang="th-TH" sz="1300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ข้อจำกัดที่เจอ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 Flowlites is slow, the robot can miss data on the page and the run ends incomplete</a:t>
            </a:r>
            <a:br>
              <a:rPr lang="en-US" sz="13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3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 Flowlites ช้า ระบบอาจจับข้อมูลไม่ครบ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slow PC or a popup covering the target element can make the robot hang mid-run</a:t>
            </a:r>
            <a:br>
              <a:rPr lang="en-US" sz="13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3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ถ้าเครื่องช้า หรือมี popup มาบัง Element ระบบอาจค้างกลางคัน</a:t>
            </a:r>
            <a:r>
              <a:rPr lang="en-US" sz="13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endParaRPr lang="en-US" sz="1350" dirty="0"/>
          </a:p>
        </p:txBody>
      </p:sp>
      <p:pic>
        <p:nvPicPr>
          <p:cNvPr id="27" name="Image 0">
            <a:extLst>
              <a:ext uri="{FF2B5EF4-FFF2-40B4-BE49-F238E27FC236}">
                <a16:creationId xmlns:a16="http://schemas.microsoft.com/office/drawing/2014/main" id="{9CFDDC54-7D3A-2166-70A7-CBEC606B5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568" y="1696951"/>
            <a:ext cx="420624" cy="3973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EB6CB3A-19A9-5B9D-8402-25B1092982B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94158" y="3355848"/>
            <a:ext cx="305291" cy="305291"/>
          </a:xfrm>
          <a:prstGeom prst="rect">
            <a:avLst/>
          </a:prstGeom>
        </p:spPr>
      </p:pic>
      <p:sp>
        <p:nvSpPr>
          <p:cNvPr id="30" name="Plus Sign 29">
            <a:extLst>
              <a:ext uri="{FF2B5EF4-FFF2-40B4-BE49-F238E27FC236}">
                <a16:creationId xmlns:a16="http://schemas.microsoft.com/office/drawing/2014/main" id="{A589FB10-2AC9-D9FF-4C27-4497D9E13F67}"/>
              </a:ext>
            </a:extLst>
          </p:cNvPr>
          <p:cNvSpPr/>
          <p:nvPr/>
        </p:nvSpPr>
        <p:spPr>
          <a:xfrm>
            <a:off x="2059171" y="1817235"/>
            <a:ext cx="420624" cy="420624"/>
          </a:xfrm>
          <a:prstGeom prst="mathPlus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lus Sign 31">
            <a:extLst>
              <a:ext uri="{FF2B5EF4-FFF2-40B4-BE49-F238E27FC236}">
                <a16:creationId xmlns:a16="http://schemas.microsoft.com/office/drawing/2014/main" id="{87F5AB82-A860-1B94-3B07-E505BB206BB8}"/>
              </a:ext>
            </a:extLst>
          </p:cNvPr>
          <p:cNvSpPr/>
          <p:nvPr/>
        </p:nvSpPr>
        <p:spPr>
          <a:xfrm>
            <a:off x="4901186" y="1817235"/>
            <a:ext cx="420624" cy="420624"/>
          </a:xfrm>
          <a:prstGeom prst="mathPlus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2D3546-8971-3729-39E5-3CC53F4D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>
            <a:extLst>
              <a:ext uri="{FF2B5EF4-FFF2-40B4-BE49-F238E27FC236}">
                <a16:creationId xmlns:a16="http://schemas.microsoft.com/office/drawing/2014/main" id="{EF6C6304-7981-5658-43D8-2C5CF40ECB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417320"/>
            <a:ext cx="82296" cy="182880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10B6AA1-07F6-F074-B5A2-2787F20DA796}"/>
              </a:ext>
            </a:extLst>
          </p:cNvPr>
          <p:cNvSpPr/>
          <p:nvPr/>
        </p:nvSpPr>
        <p:spPr>
          <a:xfrm>
            <a:off x="960120" y="1952625"/>
            <a:ext cx="24917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Appendix</a:t>
            </a:r>
            <a:endParaRPr lang="en-US" sz="4000" dirty="0"/>
          </a:p>
        </p:txBody>
      </p:sp>
      <p:sp>
        <p:nvSpPr>
          <p:cNvPr id="6" name="footer line">
            <a:extLst>
              <a:ext uri="{FF2B5EF4-FFF2-40B4-BE49-F238E27FC236}">
                <a16:creationId xmlns:a16="http://schemas.microsoft.com/office/drawing/2014/main" id="{7A48ABB8-9830-57D2-7D13-AB1D86A7C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572000"/>
            <a:ext cx="9144000" cy="4572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424B241-A009-CEC3-FBAB-5742B2676409}"/>
              </a:ext>
            </a:extLst>
          </p:cNvPr>
          <p:cNvSpPr/>
          <p:nvPr/>
        </p:nvSpPr>
        <p:spPr>
          <a:xfrm>
            <a:off x="960120" y="46634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2E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Presented to : General Manager  |  30 September 2026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17294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5486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It Is &amp; </a:t>
            </a: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How </a:t>
            </a:r>
            <a:r>
              <a:rPr lang="en-US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It </a:t>
            </a: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Works</a:t>
            </a:r>
            <a:r>
              <a:rPr lang="en-US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/  </a:t>
            </a:r>
            <a:r>
              <a:rPr lang="th-TH" sz="20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ระบบคืออะไร ทำงานอย่างไร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548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lightweight automation that runs the weekly approval follow-up in five unattended steps  </a:t>
            </a:r>
            <a:r>
              <a:rPr lang="th-TH" sz="1400" b="1" dirty="0">
                <a:solidFill>
                  <a:srgbClr val="2B7CD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ระบบอัตโนมัติขนาดเล็ก ทำงานติดตามใบอนุมัติเองครบ 5 ขั้นตอน</a:t>
            </a:r>
            <a:endParaRPr lang="en-US" sz="1400" dirty="0"/>
          </a:p>
        </p:txBody>
      </p:sp>
      <p:sp>
        <p:nvSpPr>
          <p:cNvPr id="7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0040" y="1481328"/>
            <a:ext cx="1572768" cy="2578608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004014"/>
            <a:ext cx="548640" cy="490820"/>
          </a:xfrm>
          <a:prstGeom prst="rect">
            <a:avLst/>
          </a:prstGeom>
        </p:spPr>
      </p:pic>
      <p:sp>
        <p:nvSpPr>
          <p:cNvPr id="9" name="step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0040" y="1481328"/>
            <a:ext cx="1572768" cy="38404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74904" y="14813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 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Open Flowlites</a:t>
            </a:r>
          </a:p>
          <a:p>
            <a:pPr marL="0" indent="0" algn="ctr">
              <a:buNone/>
            </a:pPr>
            <a:r>
              <a:rPr lang="th-TH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เปิดเว็บ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411480" y="2615184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 to Application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Request Sheet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b="1" u="sng" dirty="0">
                <a:solidFill>
                  <a:schemeClr val="accent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Download</a:t>
            </a:r>
            <a:r>
              <a:rPr lang="en-US" sz="1050" b="1" dirty="0">
                <a:solidFill>
                  <a:schemeClr val="accent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05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CSV </a:t>
            </a: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892808" y="1481328"/>
            <a:ext cx="164592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3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1481328"/>
            <a:ext cx="1572768" cy="2578608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0519" y="1975104"/>
            <a:ext cx="486529" cy="548640"/>
          </a:xfrm>
          <a:prstGeom prst="rect">
            <a:avLst/>
          </a:prstGeom>
        </p:spPr>
      </p:pic>
      <p:sp>
        <p:nvSpPr>
          <p:cNvPr id="15" name="step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1481328"/>
            <a:ext cx="1572768" cy="38404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112264" y="14813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Build the Excel</a:t>
            </a:r>
          </a:p>
          <a:p>
            <a:pPr marL="0" indent="0" algn="ctr">
              <a:buNone/>
            </a:pPr>
            <a:r>
              <a:rPr lang="th-TH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แปลงเป็น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Excel</a:t>
            </a:r>
            <a:endParaRPr lang="en-US" sz="1100"/>
          </a:p>
        </p:txBody>
      </p:sp>
      <p:sp>
        <p:nvSpPr>
          <p:cNvPr id="17" name="Text 13"/>
          <p:cNvSpPr/>
          <p:nvPr/>
        </p:nvSpPr>
        <p:spPr>
          <a:xfrm>
            <a:off x="2148840" y="2615184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Convert</a:t>
            </a:r>
            <a:b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1050" b="1" u="sng" dirty="0">
                <a:solidFill>
                  <a:srgbClr val="00B0F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CSV</a:t>
            </a:r>
            <a:r>
              <a:rPr lang="en-US" sz="1050" u="sng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to </a:t>
            </a:r>
            <a:r>
              <a:rPr lang="en-US" sz="1050" b="1" u="sng" dirty="0">
                <a:solidFill>
                  <a:srgbClr val="00B05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Excel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Remove the columns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that are not needed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630168" y="1481328"/>
            <a:ext cx="164592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9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60" y="1481328"/>
            <a:ext cx="1572768" cy="2578608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824" y="2000983"/>
            <a:ext cx="548640" cy="496881"/>
          </a:xfrm>
          <a:prstGeom prst="rect">
            <a:avLst/>
          </a:prstGeom>
        </p:spPr>
      </p:pic>
      <p:sp>
        <p:nvSpPr>
          <p:cNvPr id="21" name="step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60" y="1481328"/>
            <a:ext cx="1572768" cy="38404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3849624" y="14813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 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Format the</a:t>
            </a: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Data</a:t>
            </a:r>
            <a:endParaRPr lang="en-US" sz="1100" b="1">
              <a:solidFill>
                <a:srgbClr val="FFFFFF"/>
              </a:solidFill>
              <a:latin typeface="Tahoma" pitchFamily="34" charset="0"/>
              <a:ea typeface="Tahoma" pitchFamily="34" charset="-122"/>
              <a:cs typeface="Tahoma" pitchFamily="34" charset="-120"/>
            </a:endParaRPr>
          </a:p>
          <a:p>
            <a:pPr marL="0" indent="0" algn="ctr">
              <a:buNone/>
            </a:pPr>
            <a:r>
              <a:rPr lang="th-TH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จัดรูปแบบข้อมูล</a:t>
            </a:r>
            <a:endParaRPr lang="en-US" sz="1100"/>
          </a:p>
        </p:txBody>
      </p:sp>
      <p:sp>
        <p:nvSpPr>
          <p:cNvPr id="23" name="Text 18"/>
          <p:cNvSpPr/>
          <p:nvPr/>
        </p:nvSpPr>
        <p:spPr>
          <a:xfrm>
            <a:off x="3886200" y="2615184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Transform data into the required </a:t>
            </a:r>
            <a:b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1050" b="1" u="sng" dirty="0">
                <a:solidFill>
                  <a:schemeClr val="accent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format</a:t>
            </a:r>
            <a:endParaRPr lang="en-US" sz="1050" b="1" u="sng" dirty="0">
              <a:solidFill>
                <a:schemeClr val="accent2"/>
              </a:solidFill>
            </a:endParaRPr>
          </a:p>
        </p:txBody>
      </p:sp>
      <p:sp>
        <p:nvSpPr>
          <p:cNvPr id="24" name="Text 19"/>
          <p:cNvSpPr/>
          <p:nvPr/>
        </p:nvSpPr>
        <p:spPr>
          <a:xfrm>
            <a:off x="5367528" y="1481328"/>
            <a:ext cx="164592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5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32120" y="1481328"/>
            <a:ext cx="1572768" cy="2578608"/>
          </a:xfrm>
          <a:prstGeom prst="rect">
            <a:avLst/>
          </a:prstGeom>
          <a:solidFill>
            <a:srgbClr val="F2F6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4184" y="1996769"/>
            <a:ext cx="548640" cy="505309"/>
          </a:xfrm>
          <a:prstGeom prst="rect">
            <a:avLst/>
          </a:prstGeom>
        </p:spPr>
      </p:pic>
      <p:sp>
        <p:nvSpPr>
          <p:cNvPr id="27" name="step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32120" y="1481328"/>
            <a:ext cx="1572768" cy="384048"/>
          </a:xfrm>
          <a:prstGeom prst="rect">
            <a:avLst/>
          </a:prstGeom>
          <a:solidFill>
            <a:srgbClr val="0E2A4D"/>
          </a:solidFill>
          <a:ln w="12700">
            <a:solidFill>
              <a:srgbClr val="0E2A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2"/>
          <p:cNvSpPr/>
          <p:nvPr/>
        </p:nvSpPr>
        <p:spPr>
          <a:xfrm>
            <a:off x="5586984" y="14813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 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List Pending</a:t>
            </a:r>
          </a:p>
          <a:p>
            <a:pPr marL="0" indent="0" algn="ctr">
              <a:buNone/>
            </a:pPr>
            <a:r>
              <a:rPr lang="th-TH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คัดใบที่รออนุมัติ</a:t>
            </a:r>
            <a:endParaRPr lang="en-US" sz="1100"/>
          </a:p>
        </p:txBody>
      </p:sp>
      <p:sp>
        <p:nvSpPr>
          <p:cNvPr id="29" name="Text 23"/>
          <p:cNvSpPr/>
          <p:nvPr/>
        </p:nvSpPr>
        <p:spPr>
          <a:xfrm>
            <a:off x="5623560" y="2615184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Pick every ticket still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b="1" u="sng" dirty="0">
                <a:solidFill>
                  <a:schemeClr val="accent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waiting for ICS approval</a:t>
            </a:r>
            <a:endParaRPr lang="en-US" sz="1050" b="1" u="sng" dirty="0">
              <a:solidFill>
                <a:schemeClr val="accent2"/>
              </a:solidFill>
            </a:endParaRPr>
          </a:p>
        </p:txBody>
      </p:sp>
      <p:sp>
        <p:nvSpPr>
          <p:cNvPr id="30" name="Text 24"/>
          <p:cNvSpPr/>
          <p:nvPr/>
        </p:nvSpPr>
        <p:spPr>
          <a:xfrm>
            <a:off x="7104888" y="1481328"/>
            <a:ext cx="164592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69480" y="1481328"/>
            <a:ext cx="1572768" cy="2578608"/>
          </a:xfrm>
          <a:prstGeom prst="rect">
            <a:avLst/>
          </a:prstGeom>
          <a:solidFill>
            <a:srgbClr val="E8F1FB"/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2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5488" y="1975104"/>
            <a:ext cx="520752" cy="548640"/>
          </a:xfrm>
          <a:prstGeom prst="rect">
            <a:avLst/>
          </a:prstGeom>
        </p:spPr>
      </p:pic>
      <p:sp>
        <p:nvSpPr>
          <p:cNvPr id="33" name="step hea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69480" y="1481328"/>
            <a:ext cx="1572768" cy="384048"/>
          </a:xfrm>
          <a:prstGeom prst="rect">
            <a:avLst/>
          </a:prstGeom>
          <a:solidFill>
            <a:srgbClr val="2B7CD3"/>
          </a:solidFill>
          <a:ln w="12700">
            <a:solidFill>
              <a:srgbClr val="2B7C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7"/>
          <p:cNvSpPr/>
          <p:nvPr/>
        </p:nvSpPr>
        <p:spPr>
          <a:xfrm>
            <a:off x="7324344" y="14813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 </a:t>
            </a: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+ </a:t>
            </a:r>
            <a:r>
              <a:rPr lang="en-US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Send</a:t>
            </a:r>
          </a:p>
          <a:p>
            <a:pPr marL="0" indent="0" algn="ctr">
              <a:buNone/>
            </a:pPr>
            <a:r>
              <a:rPr lang="th-TH" sz="1100" b="1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จับคู่และส่งเมล</a:t>
            </a:r>
            <a:endParaRPr lang="en-US" sz="1100"/>
          </a:p>
        </p:txBody>
      </p:sp>
      <p:sp>
        <p:nvSpPr>
          <p:cNvPr id="35" name="Text 28"/>
          <p:cNvSpPr/>
          <p:nvPr/>
        </p:nvSpPr>
        <p:spPr>
          <a:xfrm>
            <a:off x="7360920" y="2615184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 the approver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the </a:t>
            </a:r>
            <a:r>
              <a:rPr lang="en-US" sz="105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Email</a:t>
            </a:r>
            <a:r>
              <a:rPr lang="th-TH" sz="105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050" b="1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ICS </a:t>
            </a: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list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2432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Send to each person in charge</a:t>
            </a:r>
            <a:endParaRPr lang="en-US" sz="1050" dirty="0"/>
          </a:p>
        </p:txBody>
      </p:sp>
      <p:sp>
        <p:nvSpPr>
          <p:cNvPr id="36" name="Text 29"/>
          <p:cNvSpPr/>
          <p:nvPr/>
        </p:nvSpPr>
        <p:spPr>
          <a:xfrm>
            <a:off x="320040" y="41879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 manual step : the system matches the approver and sends the mail automatically </a:t>
            </a:r>
            <a:br>
              <a:rPr lang="en-US" sz="1300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300" b="1" dirty="0">
                <a:solidFill>
                  <a:srgbClr val="1B5F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ไม่มีขั้นตอนที่คนทำ ระบบจับคู่และส่งเมลเองทั้งหมด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320040" y="459181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Runs on the existing Flowlites site with no system change, and is in daily use now  </a:t>
            </a:r>
            <a:br>
              <a:rPr lang="en-US" sz="1100" i="1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th-TH" sz="1100" i="1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ใช้เว็บ </a:t>
            </a:r>
            <a:r>
              <a:rPr lang="en-US" sz="1100" i="1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Flowlites </a:t>
            </a:r>
            <a:r>
              <a:rPr lang="th-TH" sz="1100" i="1" dirty="0">
                <a:solidFill>
                  <a:srgbClr val="5B6B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เดิม ไม่ต้องแก้ระบบ และใช้งานจริงอยู่แล้วทุกวัน</a:t>
            </a:r>
            <a:endParaRPr lang="en-US" sz="1100" dirty="0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3C14BEC1-C677-2930-2617-D0B64ECF4867}"/>
              </a:ext>
            </a:extLst>
          </p:cNvPr>
          <p:cNvSpPr/>
          <p:nvPr/>
        </p:nvSpPr>
        <p:spPr>
          <a:xfrm>
            <a:off x="1837945" y="2636424"/>
            <a:ext cx="292608" cy="326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BF59078-B9A6-73BD-1C1D-5F47863E2A1E}"/>
              </a:ext>
            </a:extLst>
          </p:cNvPr>
          <p:cNvSpPr/>
          <p:nvPr/>
        </p:nvSpPr>
        <p:spPr>
          <a:xfrm>
            <a:off x="3546987" y="2642028"/>
            <a:ext cx="292608" cy="326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CAC9F54F-33E5-3A9E-0107-6D38CF27C447}"/>
              </a:ext>
            </a:extLst>
          </p:cNvPr>
          <p:cNvSpPr/>
          <p:nvPr/>
        </p:nvSpPr>
        <p:spPr>
          <a:xfrm>
            <a:off x="5306765" y="2636424"/>
            <a:ext cx="292608" cy="326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1DB3D68C-EB89-3210-6ABF-D2D0C0C1B921}"/>
              </a:ext>
            </a:extLst>
          </p:cNvPr>
          <p:cNvSpPr/>
          <p:nvPr/>
        </p:nvSpPr>
        <p:spPr>
          <a:xfrm>
            <a:off x="7043830" y="2615184"/>
            <a:ext cx="292608" cy="326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DDD145B4-9571-A510-9B84-BF30B68D2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110" y="3245699"/>
            <a:ext cx="1286628" cy="294086"/>
          </a:xfrm>
          <a:prstGeom prst="rect">
            <a:avLst/>
          </a:prstGeom>
          <a:ln w="9525">
            <a:solidFill>
              <a:schemeClr val="tx1"/>
            </a:solidFill>
          </a:ln>
          <a:effectLst/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A169A95-0B47-585C-B23C-6FBAD2645BD2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4700"/>
                    </a14:imgEffect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8780" y="3561588"/>
            <a:ext cx="425196" cy="425196"/>
          </a:xfrm>
          <a:prstGeom prst="rect">
            <a:avLst/>
          </a:prstGeom>
          <a:effectLst/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8112356-8815-8700-C877-2E09F95906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90577" y="3398252"/>
            <a:ext cx="625108" cy="625108"/>
          </a:xfrm>
          <a:prstGeom prst="rect">
            <a:avLst/>
          </a:prstGeom>
          <a:effectLst/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2CD05A15-5C3C-924F-A889-C3072B80F7BB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4700"/>
                    </a14:imgEffect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29481" y="3498208"/>
            <a:ext cx="425196" cy="425196"/>
          </a:xfrm>
          <a:prstGeom prst="rect">
            <a:avLst/>
          </a:prstGeom>
          <a:effectLst/>
        </p:spPr>
      </p:pic>
      <p:sp>
        <p:nvSpPr>
          <p:cNvPr id="55" name="Arrow: Right 54">
            <a:extLst>
              <a:ext uri="{FF2B5EF4-FFF2-40B4-BE49-F238E27FC236}">
                <a16:creationId xmlns:a16="http://schemas.microsoft.com/office/drawing/2014/main" id="{24C88CBE-A52B-A9B0-F96D-5EFBA7910020}"/>
              </a:ext>
            </a:extLst>
          </p:cNvPr>
          <p:cNvSpPr/>
          <p:nvPr/>
        </p:nvSpPr>
        <p:spPr>
          <a:xfrm>
            <a:off x="2732236" y="3588910"/>
            <a:ext cx="206954" cy="233282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F496B8E6-E69B-BBCA-1F0E-777BF9F0E98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688"/>
          <a:stretch>
            <a:fillRect/>
          </a:stretch>
        </p:blipFill>
        <p:spPr>
          <a:xfrm>
            <a:off x="5623559" y="3317861"/>
            <a:ext cx="1408955" cy="449335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A56FDE5B-69D1-7F89-E265-E8251B60E49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231" t="8762"/>
          <a:stretch>
            <a:fillRect/>
          </a:stretch>
        </p:blipFill>
        <p:spPr>
          <a:xfrm>
            <a:off x="7360920" y="3519488"/>
            <a:ext cx="1389888" cy="2215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3" name="Speech Bubble: Rectangle with Corners Rounded 62">
            <a:extLst>
              <a:ext uri="{FF2B5EF4-FFF2-40B4-BE49-F238E27FC236}">
                <a16:creationId xmlns:a16="http://schemas.microsoft.com/office/drawing/2014/main" id="{1C10DDFA-D545-F1C2-02EC-2618F2A3529E}"/>
              </a:ext>
            </a:extLst>
          </p:cNvPr>
          <p:cNvSpPr/>
          <p:nvPr/>
        </p:nvSpPr>
        <p:spPr>
          <a:xfrm>
            <a:off x="8001001" y="3773615"/>
            <a:ext cx="731520" cy="249745"/>
          </a:xfrm>
          <a:prstGeom prst="wedgeRoundRectCallout">
            <a:avLst>
              <a:gd name="adj1" fmla="val -83998"/>
              <a:gd name="adj2" fmla="val -72156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chemeClr val="tx1"/>
                </a:solidFill>
              </a:rPr>
              <a:t>Check Email</a:t>
            </a:r>
            <a:r>
              <a:rPr lang="th-TH" sz="800" b="1" dirty="0">
                <a:solidFill>
                  <a:schemeClr val="tx1"/>
                </a:solidFill>
              </a:rPr>
              <a:t> </a:t>
            </a:r>
            <a:r>
              <a:rPr lang="en-US" sz="800" b="1" dirty="0">
                <a:solidFill>
                  <a:schemeClr val="tx1"/>
                </a:solidFill>
              </a:rPr>
              <a:t>and Send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8DC21A2-A951-E6B6-CF17-BBAED1AB0C7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6658" y="3245538"/>
            <a:ext cx="661563" cy="661563"/>
          </a:xfrm>
          <a:prstGeom prst="rect">
            <a:avLst/>
          </a:prstGeom>
          <a:effectLst/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7510CE42-9FC1-66BE-24E0-59343A38176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8027" y="3230636"/>
            <a:ext cx="716547" cy="716547"/>
          </a:xfrm>
          <a:prstGeom prst="rect">
            <a:avLst/>
          </a:prstGeom>
          <a:effectLst/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AC772935-91BB-5107-7876-8DC01AE646B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953" y="3675474"/>
            <a:ext cx="205219" cy="205219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39E1FD7C-844E-4899-47BA-85222192E12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03026" y="3675474"/>
            <a:ext cx="208179" cy="208179"/>
          </a:xfrm>
          <a:prstGeom prst="rect">
            <a:avLst/>
          </a:prstGeom>
        </p:spPr>
      </p:pic>
      <p:sp>
        <p:nvSpPr>
          <p:cNvPr id="79" name="Arrow: Right 78">
            <a:extLst>
              <a:ext uri="{FF2B5EF4-FFF2-40B4-BE49-F238E27FC236}">
                <a16:creationId xmlns:a16="http://schemas.microsoft.com/office/drawing/2014/main" id="{8938558E-96C9-6510-0150-385CB8E195AC}"/>
              </a:ext>
            </a:extLst>
          </p:cNvPr>
          <p:cNvSpPr/>
          <p:nvPr/>
        </p:nvSpPr>
        <p:spPr>
          <a:xfrm>
            <a:off x="4435655" y="3459678"/>
            <a:ext cx="206954" cy="233282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Bent-Up 80">
            <a:extLst>
              <a:ext uri="{FF2B5EF4-FFF2-40B4-BE49-F238E27FC236}">
                <a16:creationId xmlns:a16="http://schemas.microsoft.com/office/drawing/2014/main" id="{39B9B07D-D318-B925-F09E-774C8E871AE5}"/>
              </a:ext>
            </a:extLst>
          </p:cNvPr>
          <p:cNvSpPr/>
          <p:nvPr/>
        </p:nvSpPr>
        <p:spPr>
          <a:xfrm rot="5400000">
            <a:off x="612853" y="3566944"/>
            <a:ext cx="240881" cy="269619"/>
          </a:xfrm>
          <a:prstGeom prst="bentUpArrow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Speech Bubble: Rectangle with Corners Rounded 82">
            <a:extLst>
              <a:ext uri="{FF2B5EF4-FFF2-40B4-BE49-F238E27FC236}">
                <a16:creationId xmlns:a16="http://schemas.microsoft.com/office/drawing/2014/main" id="{FC0C2B0F-E6F9-CD6C-F21C-56DDC551BF25}"/>
              </a:ext>
            </a:extLst>
          </p:cNvPr>
          <p:cNvSpPr/>
          <p:nvPr/>
        </p:nvSpPr>
        <p:spPr>
          <a:xfrm>
            <a:off x="1422073" y="3721565"/>
            <a:ext cx="657740" cy="201839"/>
          </a:xfrm>
          <a:prstGeom prst="wedgeRoundRectCallout">
            <a:avLst>
              <a:gd name="adj1" fmla="val -64645"/>
              <a:gd name="adj2" fmla="val -40779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chemeClr val="tx1"/>
                </a:solidFill>
              </a:rPr>
              <a:t>Download </a:t>
            </a:r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F2743DD1-1E27-C6B6-7E7A-6BC650B6639D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253374" y="3704220"/>
            <a:ext cx="249336" cy="249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d75bc1b-e71b-4019-965d-008a6d34747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0548D7CC7C9F45B7F3CC7F3C678F82" ma:contentTypeVersion="9" ma:contentTypeDescription="新しいドキュメントを作成します。" ma:contentTypeScope="" ma:versionID="68585969f454de37620513f4ed142c6e">
  <xsd:schema xmlns:xsd="http://www.w3.org/2001/XMLSchema" xmlns:xs="http://www.w3.org/2001/XMLSchema" xmlns:p="http://schemas.microsoft.com/office/2006/metadata/properties" xmlns:ns3="0d75bc1b-e71b-4019-965d-008a6d347470" targetNamespace="http://schemas.microsoft.com/office/2006/metadata/properties" ma:root="true" ma:fieldsID="626ed9ba47fce557f2edec6445a3ece4" ns3:_="">
    <xsd:import namespace="0d75bc1b-e71b-4019-965d-008a6d34747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75bc1b-e71b-4019-965d-008a6d34747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0806E71-21DA-4446-9373-22E7E793916B}">
  <ds:schemaRefs>
    <ds:schemaRef ds:uri="0d75bc1b-e71b-4019-965d-008a6d34747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84A2BF3-FF2D-4A01-9E1F-17EFEEC32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1C1A23-6C96-4437-B334-5F48D6069F4E}">
  <ds:schemaRefs>
    <ds:schemaRef ds:uri="0d75bc1b-e71b-4019-965d-008a6d3474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619</TotalTime>
  <Words>877</Words>
  <Application>Microsoft Office PowerPoint</Application>
  <PresentationFormat>On-screen Show (16:9)</PresentationFormat>
  <Paragraphs>123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pattanan253</dc:creator>
  <cp:lastModifiedBy>phubet775</cp:lastModifiedBy>
  <cp:revision>16</cp:revision>
  <dcterms:created xsi:type="dcterms:W3CDTF">2026-08-21T05:29:47Z</dcterms:created>
  <dcterms:modified xsi:type="dcterms:W3CDTF">2026-09-25T09:22:01Z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0x010100350548D7CC7C9F45B7F3CC7F3C678F82</vt:lpwstr>
  </property>
</Properties>
</file>